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72" r:id="rId2"/>
    <p:sldId id="365" r:id="rId3"/>
    <p:sldId id="367" r:id="rId4"/>
    <p:sldId id="370" r:id="rId5"/>
    <p:sldId id="371" r:id="rId6"/>
    <p:sldId id="369" r:id="rId7"/>
  </p:sldIdLst>
  <p:sldSz cx="9144000" cy="6858000" type="screen4x3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1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05" roundtripDataSignature="AMtx7miUWwlRzSp7FmXEzuK0I58SVnBq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742053-E664-4C57-AEBF-A2CFF378C27F}">
  <a:tblStyle styleId="{0F742053-E664-4C57-AEBF-A2CFF378C27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9F0A71B-DF51-430A-86BD-894545E53AB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8F0"/>
          </a:solidFill>
        </a:fill>
      </a:tcStyle>
    </a:wholeTbl>
    <a:band1H>
      <a:tcTxStyle/>
      <a:tcStyle>
        <a:tcBdr/>
        <a:fill>
          <a:solidFill>
            <a:srgbClr val="CACFD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FD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26" autoAdjust="0"/>
    <p:restoredTop sz="90423" autoAdjust="0"/>
  </p:normalViewPr>
  <p:slideViewPr>
    <p:cSldViewPr snapToGrid="0">
      <p:cViewPr varScale="1">
        <p:scale>
          <a:sx n="151" d="100"/>
          <a:sy n="151" d="100"/>
        </p:scale>
        <p:origin x="1976" y="9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18" d="100"/>
          <a:sy n="118" d="100"/>
        </p:scale>
        <p:origin x="1268" y="104"/>
      </p:cViewPr>
      <p:guideLst>
        <p:guide orient="horz" pos="2880"/>
        <p:guide pos="2160"/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0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08" Type="http://schemas.openxmlformats.org/officeDocument/2006/relationships/theme" Target="theme/theme1.xml"/><Relationship Id="rId2" Type="http://schemas.openxmlformats.org/officeDocument/2006/relationships/slide" Target="slides/slide1.xml"/><Relationship Id="rId107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05" Type="http://customschemas.google.com/relationships/presentationmetadata" Target="meta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65469B5-8E34-4E50-B740-37EF9223D2F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712574-5E75-4261-B839-82DEFF414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758C4-0839-4DFD-B23C-C4B0E1666FA8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AA01415-B482-4F4D-9407-5E5120E718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E47CE7-3EA3-4C86-B438-5849285101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9A0B07-F7AB-4333-9DE8-902ADF793C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38373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4" y="0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BAE1EF43-5B23-1754-FDCC-F89427113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19D6380E-D328-EF88-18E2-88AEB2BC99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A7A79743-D0B7-43E1-C3B1-0E1D3A32A9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8088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/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6D995013-4226-2582-4E70-CEB26ABBE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D67D3314-E025-F744-6602-8EB9E20FD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399546D5-2311-8373-EDBE-7DAB34128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8987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04BE0B2B-387D-11A5-A011-54F82192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46FB8681-2539-0413-9185-44979CECD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EB9ACB1E-D913-4C42-081A-DECA6B131E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1335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8B3C8F36-5234-930E-719A-F80CF2E18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1C951375-4387-FC68-4DF3-4693A606FE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692FF73E-6277-B34C-86F2-0A63282E3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363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>
          <a:extLst>
            <a:ext uri="{FF2B5EF4-FFF2-40B4-BE49-F238E27FC236}">
              <a16:creationId xmlns:a16="http://schemas.microsoft.com/office/drawing/2014/main" id="{38886A70-0C8E-0B6E-B3CD-6AB75C597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1:notes">
            <a:extLst>
              <a:ext uri="{FF2B5EF4-FFF2-40B4-BE49-F238E27FC236}">
                <a16:creationId xmlns:a16="http://schemas.microsoft.com/office/drawing/2014/main" id="{098D23DC-CC4D-0196-5523-67666CC554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41:notes">
            <a:extLst>
              <a:ext uri="{FF2B5EF4-FFF2-40B4-BE49-F238E27FC236}">
                <a16:creationId xmlns:a16="http://schemas.microsoft.com/office/drawing/2014/main" id="{2AF9D8C2-DC04-CCD7-4C37-BD6BE189B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0662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 preserve="1">
  <p:cSld name="제목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May be an image of text that says &quot;NATIONAL N INCHEO CHEON CHE Î— VERI IN TAS TAS LIBER AIS ALISHA 인 교 대&quot;">
            <a:extLst>
              <a:ext uri="{FF2B5EF4-FFF2-40B4-BE49-F238E27FC236}">
                <a16:creationId xmlns:a16="http://schemas.microsoft.com/office/drawing/2014/main" id="{0621FC49-AD85-4EAF-9A21-6F8CC4FC00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06" y="5323562"/>
            <a:ext cx="1205245" cy="120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oogle Shape;11;p11">
            <a:extLst>
              <a:ext uri="{FF2B5EF4-FFF2-40B4-BE49-F238E27FC236}">
                <a16:creationId xmlns:a16="http://schemas.microsoft.com/office/drawing/2014/main" id="{51232039-1D42-424B-BCD5-17B75DB3DC0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461348" y="3695814"/>
            <a:ext cx="3682651" cy="95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665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 preserve="1">
  <p:cSld name="제목2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1348" y="3695814"/>
            <a:ext cx="3682651" cy="95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Picture 8" descr="May be an image of text that says &quot;NATIONAL N INCHEO CHEON CHE Î— VERI IN TAS TAS LIBER AIS ALISHA 인 교 대&quot;">
            <a:extLst>
              <a:ext uri="{FF2B5EF4-FFF2-40B4-BE49-F238E27FC236}">
                <a16:creationId xmlns:a16="http://schemas.microsoft.com/office/drawing/2014/main" id="{0621FC49-AD85-4EAF-9A21-6F8CC4FC00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57" y="237995"/>
            <a:ext cx="767089" cy="76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2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>
  <p:cSld name="본문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4B3271A3-57E1-4EBB-8B03-60F822F6C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3001" y="6447522"/>
            <a:ext cx="718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F5A3-DAD3-49E7-B926-6F61E4EB127E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37</a:t>
            </a:r>
            <a:endParaRPr lang="ko-KR" altLang="en-US" dirty="0"/>
          </a:p>
        </p:txBody>
      </p:sp>
      <p:pic>
        <p:nvPicPr>
          <p:cNvPr id="1026" name="Picture 2" descr="Incheon National University">
            <a:extLst>
              <a:ext uri="{FF2B5EF4-FFF2-40B4-BE49-F238E27FC236}">
                <a16:creationId xmlns:a16="http://schemas.microsoft.com/office/drawing/2014/main" id="{67AC1A50-49EF-4B80-B4BC-4DE794D69D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064" y="6593601"/>
            <a:ext cx="2227872" cy="9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E48C931-5A5E-4520-87FC-715A28FEF557}"/>
              </a:ext>
            </a:extLst>
          </p:cNvPr>
          <p:cNvSpPr txBox="1">
            <a:spLocks/>
          </p:cNvSpPr>
          <p:nvPr userDrawn="1"/>
        </p:nvSpPr>
        <p:spPr>
          <a:xfrm>
            <a:off x="44671" y="6446170"/>
            <a:ext cx="13018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ko-KR" dirty="0"/>
              <a:t>Kyungwon</a:t>
            </a:r>
            <a:r>
              <a:rPr lang="ko-KR" altLang="en-US" dirty="0"/>
              <a:t> </a:t>
            </a:r>
            <a:r>
              <a:rPr lang="en-US" altLang="ko-KR" dirty="0"/>
              <a:t>Kim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 preserve="1">
  <p:cSld name="6_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2"/>
          <p:cNvSpPr txBox="1"/>
          <p:nvPr/>
        </p:nvSpPr>
        <p:spPr>
          <a:xfrm>
            <a:off x="4256048" y="6498147"/>
            <a:ext cx="660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r>
              <a:rPr lang="en-US" sz="1200" b="0" i="0" u="none" strike="noStrike" cap="none" dirty="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/ 47</a:t>
            </a:r>
            <a:endParaRPr sz="2400" b="0" i="0" u="none" strike="noStrike" cap="none" dirty="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CA4293-BEFB-4D6F-8696-D4A57B20003E}"/>
              </a:ext>
            </a:extLst>
          </p:cNvPr>
          <p:cNvSpPr txBox="1"/>
          <p:nvPr userDrawn="1"/>
        </p:nvSpPr>
        <p:spPr>
          <a:xfrm>
            <a:off x="6263" y="6504485"/>
            <a:ext cx="1637797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altLang="ko-KR" sz="1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Kyungwon Kim</a:t>
            </a:r>
            <a:endParaRPr lang="en-US" altLang="ko-KR" sz="1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6" descr="No photo description available.">
            <a:extLst>
              <a:ext uri="{FF2B5EF4-FFF2-40B4-BE49-F238E27FC236}">
                <a16:creationId xmlns:a16="http://schemas.microsoft.com/office/drawing/2014/main" id="{50AD2A6C-B0A4-4A54-ACFD-982D2E56D98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1" t="9393" r="20368" b="58337"/>
          <a:stretch/>
        </p:blipFill>
        <p:spPr bwMode="auto">
          <a:xfrm>
            <a:off x="7357734" y="6456807"/>
            <a:ext cx="1611126" cy="33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41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사용자 지정 레이아웃" preserve="1">
  <p:cSld name="끝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 descr="I:\YISSUE\삼성\그래픽 모티브\아이콘\브랜딩4-1(아이콘)-1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2752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/>
          <p:nvPr/>
        </p:nvSpPr>
        <p:spPr>
          <a:xfrm>
            <a:off x="0" y="6366008"/>
            <a:ext cx="8486775" cy="45719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2"/>
          <p:cNvSpPr/>
          <p:nvPr/>
        </p:nvSpPr>
        <p:spPr>
          <a:xfrm>
            <a:off x="8562976" y="6366007"/>
            <a:ext cx="175418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8808243" y="6366007"/>
            <a:ext cx="8770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2"/>
          <p:cNvSpPr/>
          <p:nvPr/>
        </p:nvSpPr>
        <p:spPr>
          <a:xfrm>
            <a:off x="8957666" y="6366007"/>
            <a:ext cx="45719" cy="45720"/>
          </a:xfrm>
          <a:prstGeom prst="rect">
            <a:avLst/>
          </a:prstGeom>
          <a:gradFill>
            <a:gsLst>
              <a:gs pos="0">
                <a:srgbClr val="044EA2"/>
              </a:gs>
              <a:gs pos="50000">
                <a:srgbClr val="00469E"/>
              </a:gs>
              <a:gs pos="100000">
                <a:srgbClr val="005BC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329;p25">
            <a:extLst>
              <a:ext uri="{FF2B5EF4-FFF2-40B4-BE49-F238E27FC236}">
                <a16:creationId xmlns:a16="http://schemas.microsoft.com/office/drawing/2014/main" id="{5AED18BC-03E3-4116-93FD-57168EE9BD3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22273" b="23493"/>
          <a:stretch/>
        </p:blipFill>
        <p:spPr>
          <a:xfrm>
            <a:off x="2412000" y="4885764"/>
            <a:ext cx="4320000" cy="131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330;p25">
            <a:extLst>
              <a:ext uri="{FF2B5EF4-FFF2-40B4-BE49-F238E27FC236}">
                <a16:creationId xmlns:a16="http://schemas.microsoft.com/office/drawing/2014/main" id="{0FA726C6-126F-45B9-8A60-392294CADA37}"/>
              </a:ext>
            </a:extLst>
          </p:cNvPr>
          <p:cNvSpPr txBox="1"/>
          <p:nvPr userDrawn="1"/>
        </p:nvSpPr>
        <p:spPr>
          <a:xfrm>
            <a:off x="441189" y="2694838"/>
            <a:ext cx="8261622" cy="636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8125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Calibri"/>
              <a:buNone/>
            </a:pPr>
            <a:r>
              <a:rPr lang="en-US" altLang="ko-KR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THANK</a:t>
            </a:r>
            <a:r>
              <a:rPr lang="ko-KR" altLang="en-US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endParaRPr sz="3200" b="1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2" descr="Incheon National University">
            <a:extLst>
              <a:ext uri="{FF2B5EF4-FFF2-40B4-BE49-F238E27FC236}">
                <a16:creationId xmlns:a16="http://schemas.microsoft.com/office/drawing/2014/main" id="{48921185-2237-4DA4-9539-F7ECAC1B1E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064" y="6593601"/>
            <a:ext cx="2227872" cy="93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6655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preserve="1">
  <p:cSld name="끝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4;p13">
            <a:extLst>
              <a:ext uri="{FF2B5EF4-FFF2-40B4-BE49-F238E27FC236}">
                <a16:creationId xmlns:a16="http://schemas.microsoft.com/office/drawing/2014/main" id="{70552551-A7B4-403E-B6E6-6C578B4CB8E7}"/>
              </a:ext>
            </a:extLst>
          </p:cNvPr>
          <p:cNvSpPr/>
          <p:nvPr userDrawn="1"/>
        </p:nvSpPr>
        <p:spPr>
          <a:xfrm>
            <a:off x="3835400" y="0"/>
            <a:ext cx="5308600" cy="6858000"/>
          </a:xfrm>
          <a:prstGeom prst="rect">
            <a:avLst/>
          </a:prstGeom>
          <a:gradFill>
            <a:gsLst>
              <a:gs pos="0">
                <a:srgbClr val="002C63"/>
              </a:gs>
              <a:gs pos="50000">
                <a:srgbClr val="004090"/>
              </a:gs>
              <a:gs pos="100000">
                <a:srgbClr val="004DAD"/>
              </a:gs>
            </a:gsLst>
            <a:lin ang="18900000" scaled="0"/>
          </a:gradFill>
          <a:ln w="12700" cap="flat" cmpd="sng">
            <a:solidFill>
              <a:srgbClr val="0238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6;p13" descr="I:\YISSUE\삼성\그래픽 모티브\아이콘\브랜딩4-1(아이콘)-16.png">
            <a:extLst>
              <a:ext uri="{FF2B5EF4-FFF2-40B4-BE49-F238E27FC236}">
                <a16:creationId xmlns:a16="http://schemas.microsoft.com/office/drawing/2014/main" id="{C7A23493-641B-4659-85D0-B93D41F8497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b="656"/>
          <a:stretch/>
        </p:blipFill>
        <p:spPr>
          <a:xfrm>
            <a:off x="3835400" y="-2"/>
            <a:ext cx="5308600" cy="6858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27;p13">
            <a:extLst>
              <a:ext uri="{FF2B5EF4-FFF2-40B4-BE49-F238E27FC236}">
                <a16:creationId xmlns:a16="http://schemas.microsoft.com/office/drawing/2014/main" id="{20189312-7A10-49BE-B7ED-FEE9D6740BA6}"/>
              </a:ext>
            </a:extLst>
          </p:cNvPr>
          <p:cNvCxnSpPr/>
          <p:nvPr userDrawn="1"/>
        </p:nvCxnSpPr>
        <p:spPr>
          <a:xfrm>
            <a:off x="0" y="1417973"/>
            <a:ext cx="234315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Google Shape;29;p13">
            <a:extLst>
              <a:ext uri="{FF2B5EF4-FFF2-40B4-BE49-F238E27FC236}">
                <a16:creationId xmlns:a16="http://schemas.microsoft.com/office/drawing/2014/main" id="{81D7D377-02C3-408B-AB85-76B76549493C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l="10573" t="22273" r="7872" b="23493"/>
          <a:stretch/>
        </p:blipFill>
        <p:spPr>
          <a:xfrm>
            <a:off x="161365" y="5118847"/>
            <a:ext cx="3523129" cy="131781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30;p13">
            <a:extLst>
              <a:ext uri="{FF2B5EF4-FFF2-40B4-BE49-F238E27FC236}">
                <a16:creationId xmlns:a16="http://schemas.microsoft.com/office/drawing/2014/main" id="{289E2C37-BA8C-40A9-9BB0-E870A95D78BA}"/>
              </a:ext>
            </a:extLst>
          </p:cNvPr>
          <p:cNvSpPr txBox="1"/>
          <p:nvPr userDrawn="1"/>
        </p:nvSpPr>
        <p:spPr>
          <a:xfrm>
            <a:off x="4363454" y="3167390"/>
            <a:ext cx="449981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2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Picture 8" descr="May be an image of text that says &quot;NATIONAL N INCHEO CHEON CHE Î— VERI IN TAS TAS LIBER AIS ALISHA 인 교 대&quot;">
            <a:extLst>
              <a:ext uri="{FF2B5EF4-FFF2-40B4-BE49-F238E27FC236}">
                <a16:creationId xmlns:a16="http://schemas.microsoft.com/office/drawing/2014/main" id="{8C90C9FE-6D18-47E2-BD91-7BD737A7AA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06" y="100220"/>
            <a:ext cx="1205245" cy="120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802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0" r:id="rId3"/>
    <p:sldLayoutId id="2147483662" r:id="rId4"/>
    <p:sldLayoutId id="2147483661" r:id="rId5"/>
    <p:sldLayoutId id="214748366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kimk/Tutorial-Probability-Statistics-Algorithm-DataScience" TargetMode="External"/><Relationship Id="rId7" Type="http://schemas.openxmlformats.org/officeDocument/2006/relationships/hyperlink" Target="https://www.youtube.com/playlist?list=PLYP0LH6y1TM6H3o82V-vDqQ7DbiRLJf4J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playlist?list=PLYP0LH6y1TM4P3HMNM3JQ8MFx8z6nLo9O" TargetMode="External"/><Relationship Id="rId5" Type="http://schemas.openxmlformats.org/officeDocument/2006/relationships/hyperlink" Target="https://github.com/thekimk/Tutorial-Python-Programming" TargetMode="External"/><Relationship Id="rId4" Type="http://schemas.openxmlformats.org/officeDocument/2006/relationships/hyperlink" Target="https://www.youtube.com/playlist?list=PLYP0LH6y1TM4DOvCt0BhJhxXjCniU4-_A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kimk/All-About-Machine-Learni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youtube.com/playlist?list=PLYP0LH6y1TM50-9XqZfI2bbIOXCxYLauH" TargetMode="External"/><Relationship Id="rId4" Type="http://schemas.openxmlformats.org/officeDocument/2006/relationships/hyperlink" Target="https://www.youtube.com/playlist?list=PLYP0LH6y1TM6Khh6_ydAPoC9Fj4H_Vp-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kimk/All-About-Deep-Learn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youtube.com/playlist?list=PLYP0LH6y1TM77hdoLW5W5IdvQpk20UK5W" TargetMode="External"/><Relationship Id="rId5" Type="http://schemas.openxmlformats.org/officeDocument/2006/relationships/hyperlink" Target="https://github.com/thekimk/All-About-Time-Series-Analysis" TargetMode="External"/><Relationship Id="rId4" Type="http://schemas.openxmlformats.org/officeDocument/2006/relationships/hyperlink" Target="https://youtube.com/playlist?list=PLYP0LH6y1TM6s-bdE1Og3U6_SnV6CsqwJ&amp;si=o1BDtamwTK9are_e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github.com/thekimk/Lecture-NIA/tree/main/Data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mdis.kostat.go.kr/dwnlSvc/ofrSurvSearch.do?curMenuNo=UI_POR_P9240" TargetMode="External"/><Relationship Id="rId5" Type="http://schemas.openxmlformats.org/officeDocument/2006/relationships/hyperlink" Target="https://github.com/thekimk/Lecture-NIA/blob/main/Data/df_concat_BA1.csv" TargetMode="External"/><Relationship Id="rId4" Type="http://schemas.openxmlformats.org/officeDocument/2006/relationships/hyperlink" Target="https://github.com/thekimk/Lecture-NI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8D6BA330-23B8-F760-0A76-C3D7FFA7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087968D2-CC12-78B3-4C68-498D2BC41C3E}"/>
              </a:ext>
            </a:extLst>
          </p:cNvPr>
          <p:cNvSpPr txBox="1"/>
          <p:nvPr/>
        </p:nvSpPr>
        <p:spPr>
          <a:xfrm>
            <a:off x="6063094" y="2300797"/>
            <a:ext cx="2717652" cy="2576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 애널리스트 역량 입증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본인 진로의 전문성을 입증할 수 있는 산출물을 제시하며 브랜딩 집중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자격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Studing Diving + Project Diving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필수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산출물 우선순위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결국 개인 포트폴리오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</a:p>
          <a:p>
            <a:pPr>
              <a:lnSpc>
                <a:spcPct val="120000"/>
              </a:lnSpc>
              <a:buSzPts val="1400"/>
            </a:pP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① 창업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특허 제안서 작성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② 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KCI/SCIE/SSCI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연구논문 작성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r>
              <a:rPr lang="ko-KR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공모전 수상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주의사항</a:t>
            </a:r>
            <a:r>
              <a:rPr lang="en-US" altLang="ko-KR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학기에는 지도교수와의 직접 지도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학기에는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인공지능기반의사결정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수강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청강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실질적 효과를 위해선 선행된 공모전이나 연구 또는 창업현황을 미리 분석 후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빠른 대응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작성 필수적</a:t>
            </a: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필요에 따라 도구 스터디 및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Diving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가이드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5898717B-FB10-775E-F108-8E47309100A1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8C001949-097F-D3F4-DBA9-D80CD42423D8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</a:t>
            </a:r>
          </a:p>
          <a:p>
            <a:pPr algn="ctr"/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altLang="ko-KR" sz="2000" b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ata </a:t>
            </a:r>
            <a:r>
              <a:rPr lang="en-US" altLang="ko-KR" sz="2000" b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nsight &amp; </a:t>
            </a:r>
            <a:r>
              <a:rPr lang="en-US" altLang="ko-KR" sz="2000" b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alue </a:t>
            </a:r>
            <a:r>
              <a:rPr lang="en-US" altLang="ko-KR" sz="2000" b="1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xploration)</a:t>
            </a: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379858C0-4351-C5DC-E37E-DD8690F69DAB}"/>
              </a:ext>
            </a:extLst>
          </p:cNvPr>
          <p:cNvSpPr/>
          <p:nvPr/>
        </p:nvSpPr>
        <p:spPr>
          <a:xfrm>
            <a:off x="370982" y="1971883"/>
            <a:ext cx="2717652" cy="303475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79934BCB-66EE-3C98-4AD0-6B242313D549}"/>
              </a:ext>
            </a:extLst>
          </p:cNvPr>
          <p:cNvSpPr/>
          <p:nvPr/>
        </p:nvSpPr>
        <p:spPr>
          <a:xfrm>
            <a:off x="370982" y="1820232"/>
            <a:ext cx="2717652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 Diving</a:t>
            </a:r>
            <a:endParaRPr sz="32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1">
            <a:extLst>
              <a:ext uri="{FF2B5EF4-FFF2-40B4-BE49-F238E27FC236}">
                <a16:creationId xmlns:a16="http://schemas.microsoft.com/office/drawing/2014/main" id="{2A7E659A-7D3A-AAC8-A05D-A83521BE3382}"/>
              </a:ext>
            </a:extLst>
          </p:cNvPr>
          <p:cNvSpPr/>
          <p:nvPr/>
        </p:nvSpPr>
        <p:spPr>
          <a:xfrm>
            <a:off x="3217039" y="1971886"/>
            <a:ext cx="2717652" cy="3034749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1">
            <a:extLst>
              <a:ext uri="{FF2B5EF4-FFF2-40B4-BE49-F238E27FC236}">
                <a16:creationId xmlns:a16="http://schemas.microsoft.com/office/drawing/2014/main" id="{6E4A68BD-514F-D12A-4F9E-9014C4F87716}"/>
              </a:ext>
            </a:extLst>
          </p:cNvPr>
          <p:cNvSpPr/>
          <p:nvPr/>
        </p:nvSpPr>
        <p:spPr>
          <a:xfrm>
            <a:off x="3217039" y="1820232"/>
            <a:ext cx="2717652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Diving</a:t>
            </a:r>
            <a:endParaRPr sz="1800"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CC4FC95D-2FE7-304C-A836-D951E6867A4B}"/>
              </a:ext>
            </a:extLst>
          </p:cNvPr>
          <p:cNvSpPr/>
          <p:nvPr/>
        </p:nvSpPr>
        <p:spPr>
          <a:xfrm>
            <a:off x="6063095" y="1971886"/>
            <a:ext cx="2717652" cy="3034749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ABAECF0B-912F-A781-2EB6-68345587DB82}"/>
              </a:ext>
            </a:extLst>
          </p:cNvPr>
          <p:cNvSpPr/>
          <p:nvPr/>
        </p:nvSpPr>
        <p:spPr>
          <a:xfrm>
            <a:off x="6063095" y="1820232"/>
            <a:ext cx="2717652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Brand Diving</a:t>
            </a:r>
            <a:endParaRPr sz="18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396626-1ADE-5AA0-CC6A-67452AD2E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0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Google Shape;721;p43">
                <a:extLst>
                  <a:ext uri="{FF2B5EF4-FFF2-40B4-BE49-F238E27FC236}">
                    <a16:creationId xmlns:a16="http://schemas.microsoft.com/office/drawing/2014/main" id="{B485AA15-4A9C-9F40-FB93-BE8210CE5D84}"/>
                  </a:ext>
                </a:extLst>
              </p:cNvPr>
              <p:cNvSpPr txBox="1"/>
              <p:nvPr/>
            </p:nvSpPr>
            <p:spPr>
              <a:xfrm>
                <a:off x="370982" y="2300797"/>
                <a:ext cx="2717652" cy="25391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2075" marR="0" lvl="0" indent="-92075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ko-KR" altLang="en-US" sz="105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목표</a:t>
                </a:r>
                <a:r>
                  <a:rPr lang="en-US" altLang="ko-KR" sz="105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</a:t>
                </a:r>
                <a:r>
                  <a:rPr lang="en-US" altLang="ko-KR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ko-KR" alt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데이터 기반 의사결정 지식 습득</a:t>
                </a:r>
                <a:endParaRPr lang="en-US" altLang="ko-KR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2075" marR="0" lvl="0" indent="-92075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ko-KR" altLang="en-US" sz="105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학습</a:t>
                </a:r>
                <a:r>
                  <a:rPr lang="en-US" altLang="ko-KR" sz="105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</a:t>
                </a:r>
                <a:r>
                  <a:rPr lang="en-US" altLang="ko-KR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</a:p>
              <a:p>
                <a:pPr marR="0" lvl="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</a:pPr>
                <a:r>
                  <a:rPr lang="ko-KR" alt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① 데이터 의사결정 프로세스 완성</a:t>
                </a:r>
                <a:endParaRPr lang="en-US" altLang="ko-KR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lvl="0">
                  <a:lnSpc>
                    <a:spcPct val="120000"/>
                  </a:lnSpc>
                  <a:buSzPts val="1400"/>
                </a:pPr>
                <a:r>
                  <a:rPr lang="ko-KR" alt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② 머신러닝</a:t>
                </a:r>
                <a:r>
                  <a:rPr lang="en-US" altLang="ko-KR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r>
                  <a:rPr lang="ko-KR" alt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딥러닝 알고리즘</a:t>
                </a:r>
                <a:endParaRPr lang="en-US" altLang="ko-KR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92075" marR="0" lvl="0" indent="-92075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Noto Sans Symbols"/>
                  <a:buChar char="▪"/>
                </a:pPr>
                <a:r>
                  <a:rPr lang="ko-KR" altLang="en-US" sz="105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주의사항</a:t>
                </a:r>
                <a:r>
                  <a:rPr lang="en-US" altLang="ko-KR" sz="105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</a:t>
                </a: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도구사용법이 아닌 지식습득이 우선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</a:t>
                </a: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도구는 스터디 대상이 아니라 필요시 선택 수단</a:t>
                </a:r>
                <a:endParaRPr lang="en-US" altLang="ko-KR"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게으름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/</a:t>
                </a: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효율을 높여주는 도구는 있어도 지식을 늘려주는 도구는 없으므로 스터디 대상 비추천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</a:t>
                </a: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도구는 각자가 활용하고 스스로 전문가가 된 후 </a:t>
                </a:r>
                <a:r>
                  <a:rPr lang="en-US" altLang="ko-KR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DIVE</a:t>
                </a: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에 소개하며 서로 효율을 높이는게 바람직하며</a:t>
                </a:r>
                <a:r>
                  <a:rPr lang="en-US" altLang="ko-KR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 </a:t>
                </a: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도구가 스터디 대상이 되어 지식이 늦어지면</a:t>
                </a:r>
                <a:r>
                  <a:rPr lang="en-US" altLang="ko-KR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, </a:t>
                </a: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도구만 써보다 창의적 생산자가 아닌 충성스런 소비자로써만 증명되고 졸업하게 될 것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~ (</a:t>
                </a:r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도구사용경험 </a:t>
                </a:r>
                <a14:m>
                  <m:oMath xmlns:m="http://schemas.openxmlformats.org/officeDocument/2006/math">
                    <m:r>
                      <a:rPr lang="en-US" altLang="ko-KR" sz="800" i="1" smtClean="0">
                        <a:solidFill>
                          <a:schemeClr val="dk1"/>
                        </a:solidFill>
                        <a:latin typeface="Cambria Math" panose="02040503050406030204" pitchFamily="18" charset="0"/>
                        <a:ea typeface="Calibri"/>
                        <a:cs typeface="Calibri"/>
                        <a:sym typeface="Calibri"/>
                      </a:rPr>
                      <m:t>≠</m:t>
                    </m:r>
                  </m:oMath>
                </a14:m>
                <a:r>
                  <a:rPr lang="ko-KR" altLang="en-US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전문가</a:t>
                </a:r>
                <a:r>
                  <a:rPr lang="en-US" altLang="ko-KR" sz="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)</a:t>
                </a:r>
              </a:p>
              <a:p>
                <a:pPr marL="171450" marR="0" lvl="0" indent="-171450" algn="l" rtl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Tx/>
                  <a:buChar char="-"/>
                </a:pPr>
                <a:r>
                  <a:rPr lang="ko-KR" altLang="en-US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스터디 내용 문서화 및 피드백 필수</a:t>
                </a:r>
                <a:r>
                  <a:rPr lang="en-US" altLang="ko-KR" sz="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!</a:t>
                </a:r>
                <a:endParaRPr sz="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mc:Choice>
        <mc:Fallback xmlns="">
          <p:sp>
            <p:nvSpPr>
              <p:cNvPr id="3" name="Google Shape;721;p43">
                <a:extLst>
                  <a:ext uri="{FF2B5EF4-FFF2-40B4-BE49-F238E27FC236}">
                    <a16:creationId xmlns:a16="http://schemas.microsoft.com/office/drawing/2014/main" id="{A53C4606-6E1E-5825-667D-E9A7F3F56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82" y="2300797"/>
                <a:ext cx="2717652" cy="2539116"/>
              </a:xfrm>
              <a:prstGeom prst="rect">
                <a:avLst/>
              </a:prstGeom>
              <a:blipFill>
                <a:blip r:embed="rId3"/>
                <a:stretch>
                  <a:fillRect l="-897" t="-1439" b="-21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721;p43">
            <a:extLst>
              <a:ext uri="{FF2B5EF4-FFF2-40B4-BE49-F238E27FC236}">
                <a16:creationId xmlns:a16="http://schemas.microsoft.com/office/drawing/2014/main" id="{43BB4752-03C4-AED7-02A5-9597DE7AACE8}"/>
              </a:ext>
            </a:extLst>
          </p:cNvPr>
          <p:cNvSpPr txBox="1"/>
          <p:nvPr/>
        </p:nvSpPr>
        <p:spPr>
          <a:xfrm>
            <a:off x="3217038" y="2300797"/>
            <a:ext cx="2717652" cy="252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숫자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이미지 데이터 활용 실제 비즈니스 문제 해결 역량 습득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자격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Study Diving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지식 필수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lvl="0">
              <a:lnSpc>
                <a:spcPct val="120000"/>
              </a:lnSpc>
              <a:buSzPts val="1400"/>
            </a:pP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① 숫자 기반 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XAI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애널리틱스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② </a:t>
            </a:r>
            <a:r>
              <a:rPr lang="ko-KR" altLang="en-US"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 및 이미지 기반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패턴 추출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r>
              <a:rPr lang="ko-KR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활용 비즈니스 미래 수요예측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주의사항</a:t>
            </a:r>
            <a:r>
              <a:rPr lang="en-US" altLang="ko-KR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필요 지식이나 코드를 직접적으로 전달하지는 않고 방향만 가이드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스스로 필요 지식과 코드를 탐색 및 문제를 해결 또는 개선할 수 있는 역량 함양이 목적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필요에 따라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와 같은 도구 사용 스터디 필요 및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Study Diving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과정에 가이드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F5598CE9-8BA2-8C48-7612-2A715616956F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010014" y="258246"/>
            <a:ext cx="281780" cy="2842192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93C421CB-332D-46B9-7D30-1EB9F726250C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856070" y="254381"/>
            <a:ext cx="281780" cy="2849921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78F7226-4E4B-BE66-94FA-9102EE805DEC}"/>
              </a:ext>
            </a:extLst>
          </p:cNvPr>
          <p:cNvCxnSpPr>
            <a:cxnSpLocks/>
            <a:stCxn id="579" idx="2"/>
            <a:endCxn id="583" idx="0"/>
          </p:cNvCxnSpPr>
          <p:nvPr/>
        </p:nvCxnSpPr>
        <p:spPr>
          <a:xfrm>
            <a:off x="4572000" y="1538452"/>
            <a:ext cx="3865" cy="28178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oogle Shape;534;p39">
            <a:extLst>
              <a:ext uri="{FF2B5EF4-FFF2-40B4-BE49-F238E27FC236}">
                <a16:creationId xmlns:a16="http://schemas.microsoft.com/office/drawing/2014/main" id="{17C4A2CC-4D08-EB54-ACEB-02143258CB50}"/>
              </a:ext>
            </a:extLst>
          </p:cNvPr>
          <p:cNvSpPr txBox="1"/>
          <p:nvPr/>
        </p:nvSpPr>
        <p:spPr>
          <a:xfrm>
            <a:off x="594703" y="5058127"/>
            <a:ext cx="7954483" cy="1222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000" b="1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모집시기 및 모집인원</a:t>
            </a:r>
            <a:r>
              <a:rPr lang="en-US" altLang="ko-KR" sz="1000" b="1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</a:t>
            </a:r>
            <a:r>
              <a:rPr lang="ko-KR" altLang="en-US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매년 </a:t>
            </a:r>
            <a:r>
              <a:rPr lang="en-US" altLang="ko-KR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6</a:t>
            </a:r>
            <a:r>
              <a:rPr lang="ko-KR" altLang="en-US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월 </a:t>
            </a:r>
            <a:r>
              <a:rPr lang="en-US" altLang="ko-KR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1</a:t>
            </a:r>
            <a:r>
              <a:rPr lang="ko-KR" altLang="en-US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일 </a:t>
            </a:r>
            <a:r>
              <a:rPr lang="en-US" altLang="ko-KR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~ 15</a:t>
            </a:r>
            <a:r>
              <a:rPr lang="ko-KR" altLang="en-US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일 구글폼 활용 정기모집으로 약 </a:t>
            </a:r>
            <a:r>
              <a:rPr lang="en-US" altLang="ko-KR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10</a:t>
            </a:r>
            <a:r>
              <a:rPr lang="ko-KR" altLang="en-US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명 내외 모집 </a:t>
            </a:r>
            <a:r>
              <a:rPr lang="en-US" altLang="ko-KR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+ </a:t>
            </a:r>
            <a:r>
              <a:rPr lang="ko-KR" altLang="en-US" sz="1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필요시 분기별 수시모집</a:t>
            </a:r>
            <a:endParaRPr lang="en-US" altLang="ko-KR" sz="10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000" b="1">
                <a:latin typeface="Calibri" panose="020F0502020204030204" pitchFamily="34" charset="0"/>
                <a:cs typeface="Calibri" panose="020F0502020204030204" pitchFamily="34" charset="0"/>
              </a:rPr>
              <a:t>지원자격</a:t>
            </a:r>
            <a:r>
              <a:rPr lang="en-US" altLang="ko-KR" sz="1000" b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나이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전공 제한없음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비즈니스데이터사이언스의이해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&amp;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디지털비즈니스애널리틱스 등 교내외 유관수업 이수자</a:t>
            </a:r>
            <a:endParaRPr lang="en-US" altLang="ko-KR" sz="1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000" b="1">
                <a:latin typeface="Calibri" panose="020F0502020204030204" pitchFamily="34" charset="0"/>
                <a:cs typeface="Calibri" panose="020F0502020204030204" pitchFamily="34" charset="0"/>
              </a:rPr>
              <a:t>우대사항</a:t>
            </a:r>
            <a:r>
              <a:rPr lang="en-US" altLang="ko-KR" sz="1000" b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지원자격이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학년 수준의 지식이지만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년 이상의 집중적인 활동이 가능한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1~3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학년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+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타 활동 빈도 낮은자</a:t>
            </a:r>
            <a:endParaRPr lang="en-US" altLang="ko-KR" sz="1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000" b="1">
                <a:latin typeface="Calibri" panose="020F0502020204030204" pitchFamily="34" charset="0"/>
                <a:cs typeface="Calibri" panose="020F0502020204030204" pitchFamily="34" charset="0"/>
              </a:rPr>
              <a:t>분기운영</a:t>
            </a:r>
            <a:r>
              <a:rPr lang="en-US" altLang="ko-KR" sz="1000" b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기존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신규 멤버들의 상황에 따라 스스로 최소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개 이상의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Study/Project/Brand Diving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활동 선택 후 매주 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DIVE-DAY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정기 모임 집중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</a:pPr>
            <a:r>
              <a:rPr lang="ko-KR" altLang="en-US" sz="1000" b="1">
                <a:latin typeface="Calibri" panose="020F0502020204030204" pitchFamily="34" charset="0"/>
                <a:cs typeface="Calibri" panose="020F0502020204030204" pitchFamily="34" charset="0"/>
              </a:rPr>
              <a:t>분기별운영</a:t>
            </a:r>
            <a:r>
              <a:rPr lang="en-US" altLang="ko-KR" sz="1000" b="1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ko-KR" altLang="en-US" sz="1000">
                <a:latin typeface="Calibri" panose="020F0502020204030204" pitchFamily="34" charset="0"/>
                <a:cs typeface="Calibri" panose="020F0502020204030204" pitchFamily="34" charset="0"/>
              </a:rPr>
              <a:t>해당분기 활동 후 다음 분기에 목표를 내부적으로 재설정하고 멤버들도 다음 분기 활동을 재선택 하며 역량을 강화하고 완성</a:t>
            </a:r>
            <a:r>
              <a:rPr lang="en-US" altLang="ko-KR" sz="1000"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  <a:endParaRPr sz="1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63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/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/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Time</a:t>
            </a:r>
            <a:r>
              <a:rPr lang="ko-KR" altLang="en-US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</a:p>
          <a:p>
            <a:pPr algn="ctr"/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이상적인 방향이며 개인별 맞춤 분기별 선택</a:t>
            </a:r>
            <a:r>
              <a:rPr lang="en-US" altLang="ko-KR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!)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7F075A8-4252-AF85-AD17-CC86EF746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1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578" name="화살표: 갈매기형 수장 577">
            <a:extLst>
              <a:ext uri="{FF2B5EF4-FFF2-40B4-BE49-F238E27FC236}">
                <a16:creationId xmlns:a16="http://schemas.microsoft.com/office/drawing/2014/main" id="{F2D9B29E-711C-E92C-D3FC-DFADA77AB9CE}"/>
              </a:ext>
            </a:extLst>
          </p:cNvPr>
          <p:cNvSpPr/>
          <p:nvPr/>
        </p:nvSpPr>
        <p:spPr>
          <a:xfrm>
            <a:off x="105509" y="1713768"/>
            <a:ext cx="2342874" cy="515566"/>
          </a:xfrm>
          <a:prstGeom prst="chevron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F3503539-3AFB-8E69-7B80-95937887FEDE}"/>
              </a:ext>
            </a:extLst>
          </p:cNvPr>
          <p:cNvSpPr txBox="1"/>
          <p:nvPr/>
        </p:nvSpPr>
        <p:spPr>
          <a:xfrm>
            <a:off x="381606" y="1742642"/>
            <a:ext cx="177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2025 3Q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cxnSp>
        <p:nvCxnSpPr>
          <p:cNvPr id="588" name="직선 화살표 연결선 587">
            <a:extLst>
              <a:ext uri="{FF2B5EF4-FFF2-40B4-BE49-F238E27FC236}">
                <a16:creationId xmlns:a16="http://schemas.microsoft.com/office/drawing/2014/main" id="{F57A510E-6338-5263-DAAA-BDBFACDB3A0A}"/>
              </a:ext>
            </a:extLst>
          </p:cNvPr>
          <p:cNvCxnSpPr>
            <a:cxnSpLocks/>
          </p:cNvCxnSpPr>
          <p:nvPr/>
        </p:nvCxnSpPr>
        <p:spPr>
          <a:xfrm>
            <a:off x="1276946" y="2288085"/>
            <a:ext cx="0" cy="257288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9" name="Group 66">
            <a:extLst>
              <a:ext uri="{FF2B5EF4-FFF2-40B4-BE49-F238E27FC236}">
                <a16:creationId xmlns:a16="http://schemas.microsoft.com/office/drawing/2014/main" id="{B59D5234-CB93-F6AC-0C35-7D5FFF667235}"/>
              </a:ext>
            </a:extLst>
          </p:cNvPr>
          <p:cNvGrpSpPr/>
          <p:nvPr/>
        </p:nvGrpSpPr>
        <p:grpSpPr>
          <a:xfrm>
            <a:off x="231276" y="2527791"/>
            <a:ext cx="2091340" cy="3015618"/>
            <a:chOff x="3017861" y="4222351"/>
            <a:chExt cx="1917633" cy="3015618"/>
          </a:xfrm>
        </p:grpSpPr>
        <p:sp>
          <p:nvSpPr>
            <p:cNvPr id="590" name="TextBox 589">
              <a:extLst>
                <a:ext uri="{FF2B5EF4-FFF2-40B4-BE49-F238E27FC236}">
                  <a16:creationId xmlns:a16="http://schemas.microsoft.com/office/drawing/2014/main" id="{CA4CE6DA-42F9-C23E-AA79-347BE790A8EC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Tool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Prerequisites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Data Science Process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 </a:t>
              </a:r>
              <a:r>
                <a:rPr lang="en-US" altLang="ko-KR" sz="800" b="1" u="sng">
                  <a:cs typeface="Arial" pitchFamily="34" charset="0"/>
                </a:rPr>
                <a:t>&amp; </a:t>
              </a:r>
              <a:r>
                <a:rPr lang="ko-KR" altLang="en-US" sz="800" b="1" u="sng">
                  <a:cs typeface="Arial" pitchFamily="34" charset="0"/>
                </a:rPr>
                <a:t>비즈니스수요예측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(1) Data Science Algorithms | </a:t>
              </a:r>
              <a:r>
                <a:rPr lang="en-US" altLang="ko-KR" sz="800">
                  <a:cs typeface="Arial" pitchFamily="34" charset="0"/>
                </a:rPr>
                <a:t>What are Machine Learning Algorithms for AI Engines?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(2) Data Science Process + Algorithms | </a:t>
              </a:r>
              <a:r>
                <a:rPr lang="en-US" altLang="ko-KR" sz="800">
                  <a:cs typeface="Arial" pitchFamily="34" charset="0"/>
                </a:rPr>
                <a:t>How Do We Solve the Time Dependency Problem?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(3) Data Science Algorithms | </a:t>
              </a:r>
              <a:r>
                <a:rPr lang="en-US" altLang="ko-KR" sz="800">
                  <a:cs typeface="Arial" pitchFamily="34" charset="0"/>
                </a:rPr>
                <a:t>What are Deep Learning Algorithms for AI Engines?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(4) </a:t>
              </a:r>
              <a:r>
                <a:rPr lang="ko-KR" altLang="en-US" sz="800" b="1">
                  <a:cs typeface="Arial" pitchFamily="34" charset="0"/>
                </a:rPr>
                <a:t>다음 분기 방향 계획</a:t>
              </a:r>
              <a:endParaRPr lang="en-US" altLang="ko-KR" sz="800" b="1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3369309B-B2BE-C06E-FD1D-CF6B6BE79E70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Study</a:t>
              </a:r>
              <a:r>
                <a:rPr lang="ko-KR" altLang="en-US" b="1">
                  <a:solidFill>
                    <a:srgbClr val="92D050"/>
                  </a:solidFill>
                  <a:cs typeface="Arial" pitchFamily="34" charset="0"/>
                </a:rPr>
                <a:t> </a:t>
              </a:r>
              <a:r>
                <a:rPr lang="en-US" altLang="ko-KR" b="1">
                  <a:solidFill>
                    <a:srgbClr val="92D050"/>
                  </a:solidFill>
                  <a:cs typeface="Arial" pitchFamily="34" charset="0"/>
                </a:rPr>
                <a:t>Diving</a:t>
              </a:r>
              <a:endParaRPr lang="ko-KR" altLang="en-US" sz="1400" b="1" dirty="0">
                <a:solidFill>
                  <a:srgbClr val="92D050"/>
                </a:solidFill>
                <a:cs typeface="Arial" pitchFamily="34" charset="0"/>
              </a:endParaRPr>
            </a:p>
          </p:txBody>
        </p:sp>
      </p:grpSp>
      <p:sp>
        <p:nvSpPr>
          <p:cNvPr id="592" name="타원 591">
            <a:extLst>
              <a:ext uri="{FF2B5EF4-FFF2-40B4-BE49-F238E27FC236}">
                <a16:creationId xmlns:a16="http://schemas.microsoft.com/office/drawing/2014/main" id="{08E10661-45F6-9567-47B8-9E1BEA691825}"/>
              </a:ext>
            </a:extLst>
          </p:cNvPr>
          <p:cNvSpPr/>
          <p:nvPr/>
        </p:nvSpPr>
        <p:spPr>
          <a:xfrm>
            <a:off x="862183" y="5443940"/>
            <a:ext cx="829524" cy="829524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1" name="화살표: 갈매기형 수장 650">
            <a:extLst>
              <a:ext uri="{FF2B5EF4-FFF2-40B4-BE49-F238E27FC236}">
                <a16:creationId xmlns:a16="http://schemas.microsoft.com/office/drawing/2014/main" id="{357627FE-0465-3E0F-AEDC-08D827AB3B4D}"/>
              </a:ext>
            </a:extLst>
          </p:cNvPr>
          <p:cNvSpPr/>
          <p:nvPr/>
        </p:nvSpPr>
        <p:spPr>
          <a:xfrm>
            <a:off x="2322615" y="1713768"/>
            <a:ext cx="2342874" cy="515566"/>
          </a:xfrm>
          <a:prstGeom prst="chevron">
            <a:avLst>
              <a:gd name="adj" fmla="val 53644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2" name="TextBox 651">
            <a:extLst>
              <a:ext uri="{FF2B5EF4-FFF2-40B4-BE49-F238E27FC236}">
                <a16:creationId xmlns:a16="http://schemas.microsoft.com/office/drawing/2014/main" id="{9947AEEC-BAD3-DA58-2F15-F78101FC05BB}"/>
              </a:ext>
            </a:extLst>
          </p:cNvPr>
          <p:cNvSpPr txBox="1"/>
          <p:nvPr/>
        </p:nvSpPr>
        <p:spPr>
          <a:xfrm>
            <a:off x="2598712" y="1742642"/>
            <a:ext cx="177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2025 4Q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654" name="Group 66">
            <a:extLst>
              <a:ext uri="{FF2B5EF4-FFF2-40B4-BE49-F238E27FC236}">
                <a16:creationId xmlns:a16="http://schemas.microsoft.com/office/drawing/2014/main" id="{22A3A13D-3E85-1592-D7CB-679EFBD9BC9C}"/>
              </a:ext>
            </a:extLst>
          </p:cNvPr>
          <p:cNvGrpSpPr/>
          <p:nvPr/>
        </p:nvGrpSpPr>
        <p:grpSpPr>
          <a:xfrm>
            <a:off x="2448382" y="2527791"/>
            <a:ext cx="2091340" cy="2769397"/>
            <a:chOff x="3017861" y="4222351"/>
            <a:chExt cx="1917633" cy="2769397"/>
          </a:xfrm>
        </p:grpSpPr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B6DA4AEF-9021-9F11-A08D-8523E5D9C0DF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4314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Study</a:t>
              </a:r>
              <a:r>
                <a:rPr lang="ko-KR" altLang="en-US" sz="800">
                  <a:cs typeface="Arial" pitchFamily="34" charset="0"/>
                </a:rPr>
                <a:t> </a:t>
              </a:r>
              <a:r>
                <a:rPr lang="en-US" altLang="ko-KR" sz="800">
                  <a:cs typeface="Arial" pitchFamily="34" charset="0"/>
                </a:rPr>
                <a:t>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비즈니스 애널리틱스</a:t>
              </a:r>
              <a:r>
                <a:rPr lang="en-US" altLang="ko-KR" sz="800" b="1">
                  <a:cs typeface="Arial" pitchFamily="34" charset="0"/>
                </a:rPr>
                <a:t>1:</a:t>
              </a:r>
              <a:r>
                <a:rPr lang="en-US" altLang="ko-KR" sz="800">
                  <a:cs typeface="Arial" pitchFamily="34" charset="0"/>
                </a:rPr>
                <a:t> </a:t>
              </a:r>
              <a:r>
                <a:rPr lang="ko-KR" altLang="en-US" sz="800">
                  <a:cs typeface="Arial" pitchFamily="34" charset="0"/>
                </a:rPr>
                <a:t>누구에게 마케팅을 해야할 것인가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설명가능한 인공지능을 활용한 추천과 근거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비즈니스 애널리틱스</a:t>
              </a:r>
              <a:r>
                <a:rPr lang="en-US" altLang="ko-KR" sz="800" b="1">
                  <a:cs typeface="Arial" pitchFamily="34" charset="0"/>
                </a:rPr>
                <a:t>2:</a:t>
              </a:r>
              <a:r>
                <a:rPr lang="en-US" altLang="ko-KR" sz="800">
                  <a:cs typeface="Arial" pitchFamily="34" charset="0"/>
                </a:rPr>
                <a:t> </a:t>
              </a:r>
              <a:r>
                <a:rPr lang="ko-KR" altLang="en-US" sz="800">
                  <a:cs typeface="Arial" pitchFamily="34" charset="0"/>
                </a:rPr>
                <a:t>비즈니스 수요를 정확하게 예측해볼까</a:t>
              </a:r>
              <a:r>
                <a:rPr lang="en-US" altLang="ko-KR" sz="800">
                  <a:cs typeface="Arial" pitchFamily="34" charset="0"/>
                </a:rPr>
                <a:t>? </a:t>
              </a:r>
              <a:r>
                <a:rPr lang="ko-KR" altLang="en-US" sz="800">
                  <a:cs typeface="Arial" pitchFamily="34" charset="0"/>
                </a:rPr>
                <a:t>시계열 및 텍스트 형태로 구성된 경제지표와 뉴스데이터 융합을 통한 미래예측</a:t>
              </a:r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(3) </a:t>
              </a:r>
              <a:r>
                <a:rPr lang="ko-KR" altLang="en-US" sz="800" b="1">
                  <a:cs typeface="Arial" pitchFamily="34" charset="0"/>
                </a:rPr>
                <a:t>다음 분기 방향 계획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656" name="TextBox 655">
              <a:extLst>
                <a:ext uri="{FF2B5EF4-FFF2-40B4-BE49-F238E27FC236}">
                  <a16:creationId xmlns:a16="http://schemas.microsoft.com/office/drawing/2014/main" id="{0DE5D15B-1F86-7651-F18F-148759C6DFEA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C000"/>
                  </a:solidFill>
                  <a:cs typeface="Arial" pitchFamily="34" charset="0"/>
                </a:rPr>
                <a:t>Project Diving</a:t>
              </a:r>
              <a:endParaRPr lang="ko-KR" altLang="en-US" sz="1400" b="1" dirty="0">
                <a:solidFill>
                  <a:srgbClr val="FFC000"/>
                </a:solidFill>
                <a:cs typeface="Arial" pitchFamily="34" charset="0"/>
              </a:endParaRPr>
            </a:p>
          </p:txBody>
        </p:sp>
      </p:grpSp>
      <p:sp>
        <p:nvSpPr>
          <p:cNvPr id="657" name="타원 656">
            <a:extLst>
              <a:ext uri="{FF2B5EF4-FFF2-40B4-BE49-F238E27FC236}">
                <a16:creationId xmlns:a16="http://schemas.microsoft.com/office/drawing/2014/main" id="{5A7F13BB-005A-FBD3-7A03-D7F64DB1089F}"/>
              </a:ext>
            </a:extLst>
          </p:cNvPr>
          <p:cNvSpPr/>
          <p:nvPr/>
        </p:nvSpPr>
        <p:spPr>
          <a:xfrm>
            <a:off x="3079289" y="5443940"/>
            <a:ext cx="829524" cy="82952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7" name="화살표: 갈매기형 수장 706">
            <a:extLst>
              <a:ext uri="{FF2B5EF4-FFF2-40B4-BE49-F238E27FC236}">
                <a16:creationId xmlns:a16="http://schemas.microsoft.com/office/drawing/2014/main" id="{9B1C7E13-D457-1B7F-F1CD-F34EA08E6F9D}"/>
              </a:ext>
            </a:extLst>
          </p:cNvPr>
          <p:cNvSpPr/>
          <p:nvPr/>
        </p:nvSpPr>
        <p:spPr>
          <a:xfrm>
            <a:off x="4521389" y="1713768"/>
            <a:ext cx="2342874" cy="515566"/>
          </a:xfrm>
          <a:prstGeom prst="chevr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8" name="TextBox 707">
            <a:extLst>
              <a:ext uri="{FF2B5EF4-FFF2-40B4-BE49-F238E27FC236}">
                <a16:creationId xmlns:a16="http://schemas.microsoft.com/office/drawing/2014/main" id="{1DDD56B7-8391-EF62-E033-6E036BD79D7D}"/>
              </a:ext>
            </a:extLst>
          </p:cNvPr>
          <p:cNvSpPr txBox="1"/>
          <p:nvPr/>
        </p:nvSpPr>
        <p:spPr>
          <a:xfrm>
            <a:off x="4797486" y="1742642"/>
            <a:ext cx="177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2026 1Q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710" name="Group 66">
            <a:extLst>
              <a:ext uri="{FF2B5EF4-FFF2-40B4-BE49-F238E27FC236}">
                <a16:creationId xmlns:a16="http://schemas.microsoft.com/office/drawing/2014/main" id="{18E61766-8621-9612-3BC6-B7F7FC20419A}"/>
              </a:ext>
            </a:extLst>
          </p:cNvPr>
          <p:cNvGrpSpPr/>
          <p:nvPr/>
        </p:nvGrpSpPr>
        <p:grpSpPr>
          <a:xfrm>
            <a:off x="4647156" y="2527791"/>
            <a:ext cx="2091340" cy="2646286"/>
            <a:chOff x="3017861" y="4222351"/>
            <a:chExt cx="1917633" cy="2646286"/>
          </a:xfrm>
        </p:grpSpPr>
        <p:sp>
          <p:nvSpPr>
            <p:cNvPr id="711" name="TextBox 710">
              <a:extLst>
                <a:ext uri="{FF2B5EF4-FFF2-40B4-BE49-F238E27FC236}">
                  <a16:creationId xmlns:a16="http://schemas.microsoft.com/office/drawing/2014/main" id="{A734D83A-ED8D-E767-00FE-D01EAD2653E6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</a:t>
              </a:r>
              <a:r>
                <a:rPr lang="en-US" altLang="ko-KR" sz="800" b="1" u="sng">
                  <a:cs typeface="Arial" pitchFamily="34" charset="0"/>
                </a:rPr>
                <a:t>: </a:t>
              </a:r>
              <a:r>
                <a:rPr lang="ko-KR" altLang="en-US" sz="800" b="1" u="sng">
                  <a:cs typeface="Arial" pitchFamily="34" charset="0"/>
                </a:rPr>
                <a:t>개인 브랜딩 선행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(1) Project Diving </a:t>
              </a:r>
              <a:r>
                <a:rPr lang="ko-KR" altLang="en-US" sz="800" b="1">
                  <a:cs typeface="Arial" pitchFamily="34" charset="0"/>
                </a:rPr>
                <a:t>결과 고도화 및 논문화</a:t>
              </a:r>
              <a:endParaRPr lang="en-US" altLang="ko-KR" sz="800" b="1">
                <a:cs typeface="Arial" pitchFamily="34" charset="0"/>
              </a:endParaRPr>
            </a:p>
            <a:p>
              <a:pPr marL="228600" indent="-228600" algn="ctr">
                <a:buAutoNum type="arabicParenBoth"/>
              </a:pPr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본인 진로 기반 출시 예상 공모전 미리 분석 및 고도화</a:t>
              </a:r>
              <a:endParaRPr lang="en-US" altLang="ko-KR" sz="800" b="1">
                <a:cs typeface="Arial" pitchFamily="34" charset="0"/>
              </a:endParaRPr>
            </a:p>
            <a:p>
              <a:pPr marL="228600" indent="-228600" algn="ctr">
                <a:buAutoNum type="arabicParenBoth"/>
              </a:pPr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(3) </a:t>
              </a:r>
              <a:r>
                <a:rPr lang="ko-KR" altLang="en-US" sz="800" b="1">
                  <a:cs typeface="Arial" pitchFamily="34" charset="0"/>
                </a:rPr>
                <a:t>본인 진로 기반 논문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특허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창업 제안을 위한 분석 및 고도화 </a:t>
              </a:r>
              <a:endParaRPr lang="en-US" altLang="ko-KR" sz="800" b="1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(4) </a:t>
              </a:r>
              <a:r>
                <a:rPr lang="ko-KR" altLang="en-US" sz="800" b="1">
                  <a:cs typeface="Arial" pitchFamily="34" charset="0"/>
                </a:rPr>
                <a:t>다음 분기 방향 계획</a:t>
              </a:r>
              <a:endParaRPr lang="en-US" altLang="ko-KR" sz="800" b="1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D01706C5-6A05-600B-DDF9-899DA3D9CFB8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>
                  <a:solidFill>
                    <a:srgbClr val="7030A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7030A0"/>
                </a:solidFill>
                <a:cs typeface="Arial" pitchFamily="34" charset="0"/>
              </a:endParaRPr>
            </a:p>
          </p:txBody>
        </p:sp>
      </p:grpSp>
      <p:sp>
        <p:nvSpPr>
          <p:cNvPr id="713" name="타원 712">
            <a:extLst>
              <a:ext uri="{FF2B5EF4-FFF2-40B4-BE49-F238E27FC236}">
                <a16:creationId xmlns:a16="http://schemas.microsoft.com/office/drawing/2014/main" id="{0F3A81DB-4321-5266-6868-CE03F3340978}"/>
              </a:ext>
            </a:extLst>
          </p:cNvPr>
          <p:cNvSpPr/>
          <p:nvPr/>
        </p:nvSpPr>
        <p:spPr>
          <a:xfrm>
            <a:off x="5278063" y="5443940"/>
            <a:ext cx="829524" cy="82952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4" name="Rectangle 36">
            <a:extLst>
              <a:ext uri="{FF2B5EF4-FFF2-40B4-BE49-F238E27FC236}">
                <a16:creationId xmlns:a16="http://schemas.microsoft.com/office/drawing/2014/main" id="{F68546E3-6B24-2499-6C00-2DF4365ECE5C}"/>
              </a:ext>
            </a:extLst>
          </p:cNvPr>
          <p:cNvSpPr/>
          <p:nvPr/>
        </p:nvSpPr>
        <p:spPr>
          <a:xfrm>
            <a:off x="5499323" y="5694305"/>
            <a:ext cx="387004" cy="32350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15" name="화살표: 갈매기형 수장 714">
            <a:extLst>
              <a:ext uri="{FF2B5EF4-FFF2-40B4-BE49-F238E27FC236}">
                <a16:creationId xmlns:a16="http://schemas.microsoft.com/office/drawing/2014/main" id="{ECFBE4F0-EC3E-6F16-F64F-43BD023AE1D0}"/>
              </a:ext>
            </a:extLst>
          </p:cNvPr>
          <p:cNvSpPr/>
          <p:nvPr/>
        </p:nvSpPr>
        <p:spPr>
          <a:xfrm>
            <a:off x="6738495" y="1713768"/>
            <a:ext cx="2342874" cy="515566"/>
          </a:xfrm>
          <a:prstGeom prst="chevr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6" name="TextBox 715">
            <a:extLst>
              <a:ext uri="{FF2B5EF4-FFF2-40B4-BE49-F238E27FC236}">
                <a16:creationId xmlns:a16="http://schemas.microsoft.com/office/drawing/2014/main" id="{83739127-94D2-22D2-9106-03E61D838B83}"/>
              </a:ext>
            </a:extLst>
          </p:cNvPr>
          <p:cNvSpPr txBox="1"/>
          <p:nvPr/>
        </p:nvSpPr>
        <p:spPr>
          <a:xfrm>
            <a:off x="7014592" y="1742642"/>
            <a:ext cx="1772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>
                <a:solidFill>
                  <a:schemeClr val="bg1"/>
                </a:solidFill>
              </a:rPr>
              <a:t>2026 2Q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grpSp>
        <p:nvGrpSpPr>
          <p:cNvPr id="718" name="Group 66">
            <a:extLst>
              <a:ext uri="{FF2B5EF4-FFF2-40B4-BE49-F238E27FC236}">
                <a16:creationId xmlns:a16="http://schemas.microsoft.com/office/drawing/2014/main" id="{0556E8C5-CB30-F4EA-B207-DECF24D2D35C}"/>
              </a:ext>
            </a:extLst>
          </p:cNvPr>
          <p:cNvGrpSpPr/>
          <p:nvPr/>
        </p:nvGrpSpPr>
        <p:grpSpPr>
          <a:xfrm>
            <a:off x="6864262" y="2527791"/>
            <a:ext cx="2091340" cy="2153844"/>
            <a:chOff x="3017861" y="4222351"/>
            <a:chExt cx="1917633" cy="2153844"/>
          </a:xfrm>
        </p:grpSpPr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AAA93F93-8A5A-48A1-F155-39AD2576141C}"/>
                </a:ext>
              </a:extLst>
            </p:cNvPr>
            <p:cNvSpPr txBox="1"/>
            <p:nvPr/>
          </p:nvSpPr>
          <p:spPr>
            <a:xfrm>
              <a:off x="3017861" y="4560313"/>
              <a:ext cx="1917633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선수과목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r>
                <a:rPr lang="en-US" altLang="ko-KR" sz="800">
                  <a:cs typeface="Arial" pitchFamily="34" charset="0"/>
                </a:rPr>
                <a:t>Project Diving</a:t>
              </a: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 u="sng">
                  <a:cs typeface="Arial" pitchFamily="34" charset="0"/>
                </a:rPr>
                <a:t>[</a:t>
              </a:r>
              <a:r>
                <a:rPr lang="ko-KR" altLang="en-US" sz="800" b="1" u="sng">
                  <a:cs typeface="Arial" pitchFamily="34" charset="0"/>
                </a:rPr>
                <a:t>목표 </a:t>
              </a:r>
              <a:r>
                <a:rPr lang="en-US" altLang="ko-KR" sz="800" b="1" u="sng">
                  <a:cs typeface="Arial" pitchFamily="34" charset="0"/>
                </a:rPr>
                <a:t>&amp; </a:t>
              </a:r>
              <a:r>
                <a:rPr lang="ko-KR" altLang="en-US" sz="800" b="1" u="sng">
                  <a:cs typeface="Arial" pitchFamily="34" charset="0"/>
                </a:rPr>
                <a:t>인공지능의사결정</a:t>
              </a:r>
              <a:r>
                <a:rPr lang="en-US" altLang="ko-KR" sz="800" b="1" u="sng">
                  <a:cs typeface="Arial" pitchFamily="34" charset="0"/>
                </a:rPr>
                <a:t>]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(1) </a:t>
              </a:r>
              <a:r>
                <a:rPr lang="ko-KR" altLang="en-US" sz="800" b="1">
                  <a:cs typeface="Arial" pitchFamily="34" charset="0"/>
                </a:rPr>
                <a:t>개인 브랜딩 증명을 위해 집중</a:t>
              </a:r>
              <a:r>
                <a:rPr lang="en-US" altLang="ko-KR" sz="800" b="1">
                  <a:cs typeface="Arial" pitchFamily="34" charset="0"/>
                </a:rPr>
                <a:t>!</a:t>
              </a:r>
            </a:p>
            <a:p>
              <a:pPr algn="ctr"/>
              <a:endParaRPr lang="en-US" altLang="ko-KR" sz="800" b="1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(2) </a:t>
              </a:r>
              <a:r>
                <a:rPr lang="ko-KR" altLang="en-US" sz="800" b="1">
                  <a:cs typeface="Arial" pitchFamily="34" charset="0"/>
                </a:rPr>
                <a:t>본인 진로 기반 공모전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논문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특허</a:t>
              </a:r>
              <a:r>
                <a:rPr lang="en-US" altLang="ko-KR" sz="800" b="1">
                  <a:cs typeface="Arial" pitchFamily="34" charset="0"/>
                </a:rPr>
                <a:t>/</a:t>
              </a:r>
              <a:r>
                <a:rPr lang="ko-KR" altLang="en-US" sz="800" b="1">
                  <a:cs typeface="Arial" pitchFamily="34" charset="0"/>
                </a:rPr>
                <a:t>창업 산출물 완성 및 추가</a:t>
              </a:r>
              <a:endParaRPr lang="en-US" altLang="ko-KR" sz="800" b="1">
                <a:cs typeface="Arial" pitchFamily="34" charset="0"/>
              </a:endParaRPr>
            </a:p>
            <a:p>
              <a:pPr algn="ctr"/>
              <a:endParaRPr lang="en-US" altLang="ko-KR" sz="800">
                <a:cs typeface="Arial" pitchFamily="34" charset="0"/>
              </a:endParaRPr>
            </a:p>
            <a:p>
              <a:pPr algn="ctr"/>
              <a:r>
                <a:rPr lang="en-US" altLang="ko-KR" sz="800" b="1">
                  <a:cs typeface="Arial" pitchFamily="34" charset="0"/>
                </a:rPr>
                <a:t>(3) </a:t>
              </a:r>
              <a:r>
                <a:rPr lang="ko-KR" altLang="en-US" sz="800" b="1">
                  <a:cs typeface="Arial" pitchFamily="34" charset="0"/>
                </a:rPr>
                <a:t>다음 분기 방향 계획</a:t>
              </a:r>
              <a:endParaRPr lang="en-US" altLang="ko-KR" sz="800" b="1">
                <a:cs typeface="Arial" pitchFamily="34" charset="0"/>
              </a:endParaRPr>
            </a:p>
          </p:txBody>
        </p:sp>
        <p:sp>
          <p:nvSpPr>
            <p:cNvPr id="720" name="TextBox 719">
              <a:extLst>
                <a:ext uri="{FF2B5EF4-FFF2-40B4-BE49-F238E27FC236}">
                  <a16:creationId xmlns:a16="http://schemas.microsoft.com/office/drawing/2014/main" id="{DB473F7B-2171-1E9B-957A-64A6E5ABCC35}"/>
                </a:ext>
              </a:extLst>
            </p:cNvPr>
            <p:cNvSpPr txBox="1"/>
            <p:nvPr/>
          </p:nvSpPr>
          <p:spPr>
            <a:xfrm>
              <a:off x="3017861" y="4222351"/>
              <a:ext cx="19013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>
                  <a:solidFill>
                    <a:srgbClr val="FF0000"/>
                  </a:solidFill>
                  <a:cs typeface="Arial" pitchFamily="34" charset="0"/>
                </a:rPr>
                <a:t>Brand Diving</a:t>
              </a:r>
              <a:endParaRPr lang="ko-KR" altLang="en-US" sz="1400" b="1" dirty="0">
                <a:solidFill>
                  <a:srgbClr val="FF0000"/>
                </a:solidFill>
                <a:cs typeface="Arial" pitchFamily="34" charset="0"/>
              </a:endParaRPr>
            </a:p>
          </p:txBody>
        </p:sp>
      </p:grpSp>
      <p:sp>
        <p:nvSpPr>
          <p:cNvPr id="721" name="타원 720">
            <a:extLst>
              <a:ext uri="{FF2B5EF4-FFF2-40B4-BE49-F238E27FC236}">
                <a16:creationId xmlns:a16="http://schemas.microsoft.com/office/drawing/2014/main" id="{CCA116E3-0D72-9842-C3A3-7C040FA06FE9}"/>
              </a:ext>
            </a:extLst>
          </p:cNvPr>
          <p:cNvSpPr/>
          <p:nvPr/>
        </p:nvSpPr>
        <p:spPr>
          <a:xfrm>
            <a:off x="7495169" y="5443940"/>
            <a:ext cx="829524" cy="829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6" name="Rounded Rectangle 32">
            <a:extLst>
              <a:ext uri="{FF2B5EF4-FFF2-40B4-BE49-F238E27FC236}">
                <a16:creationId xmlns:a16="http://schemas.microsoft.com/office/drawing/2014/main" id="{7E2E2D30-A1EC-4135-3C0D-2755EF23EB64}"/>
              </a:ext>
            </a:extLst>
          </p:cNvPr>
          <p:cNvSpPr/>
          <p:nvPr/>
        </p:nvSpPr>
        <p:spPr>
          <a:xfrm>
            <a:off x="3327546" y="5694305"/>
            <a:ext cx="333009" cy="33300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2019696" y="2510955"/>
                </a:moveTo>
                <a:lnTo>
                  <a:pt x="2019696" y="2797359"/>
                </a:lnTo>
                <a:lnTo>
                  <a:pt x="2914589" y="2797359"/>
                </a:lnTo>
                <a:lnTo>
                  <a:pt x="2914589" y="2510955"/>
                </a:lnTo>
                <a:close/>
                <a:moveTo>
                  <a:pt x="2019696" y="2081348"/>
                </a:moveTo>
                <a:lnTo>
                  <a:pt x="2019696" y="2367752"/>
                </a:lnTo>
                <a:lnTo>
                  <a:pt x="2914589" y="2367752"/>
                </a:lnTo>
                <a:lnTo>
                  <a:pt x="2914589" y="2081348"/>
                </a:lnTo>
                <a:close/>
                <a:moveTo>
                  <a:pt x="580710" y="2021703"/>
                </a:moveTo>
                <a:lnTo>
                  <a:pt x="378191" y="2224222"/>
                </a:lnTo>
                <a:lnTo>
                  <a:pt x="593323" y="2439354"/>
                </a:lnTo>
                <a:lnTo>
                  <a:pt x="378191" y="2654485"/>
                </a:lnTo>
                <a:lnTo>
                  <a:pt x="580710" y="2857004"/>
                </a:lnTo>
                <a:lnTo>
                  <a:pt x="795842" y="2641872"/>
                </a:lnTo>
                <a:lnTo>
                  <a:pt x="1010973" y="2857004"/>
                </a:lnTo>
                <a:lnTo>
                  <a:pt x="1213492" y="2654485"/>
                </a:lnTo>
                <a:lnTo>
                  <a:pt x="998360" y="2439354"/>
                </a:lnTo>
                <a:lnTo>
                  <a:pt x="1213492" y="2224222"/>
                </a:lnTo>
                <a:lnTo>
                  <a:pt x="1010973" y="2021703"/>
                </a:lnTo>
                <a:lnTo>
                  <a:pt x="795842" y="2236835"/>
                </a:lnTo>
                <a:close/>
                <a:moveTo>
                  <a:pt x="1656000" y="1656001"/>
                </a:moveTo>
                <a:lnTo>
                  <a:pt x="3240000" y="1656001"/>
                </a:lnTo>
                <a:lnTo>
                  <a:pt x="3240000" y="2699989"/>
                </a:lnTo>
                <a:cubicBezTo>
                  <a:pt x="3240000" y="2998229"/>
                  <a:pt x="2998229" y="3240000"/>
                  <a:pt x="2699989" y="3240000"/>
                </a:cubicBezTo>
                <a:lnTo>
                  <a:pt x="1656000" y="3240000"/>
                </a:lnTo>
                <a:close/>
                <a:moveTo>
                  <a:pt x="0" y="1656001"/>
                </a:moveTo>
                <a:lnTo>
                  <a:pt x="1584000" y="1656001"/>
                </a:lnTo>
                <a:lnTo>
                  <a:pt x="1584000" y="3240000"/>
                </a:lnTo>
                <a:lnTo>
                  <a:pt x="540011" y="3240000"/>
                </a:lnTo>
                <a:cubicBezTo>
                  <a:pt x="241771" y="3240000"/>
                  <a:pt x="0" y="2998229"/>
                  <a:pt x="0" y="2699989"/>
                </a:cubicBezTo>
                <a:close/>
                <a:moveTo>
                  <a:pt x="2467143" y="957859"/>
                </a:moveTo>
                <a:cubicBezTo>
                  <a:pt x="2388055" y="957859"/>
                  <a:pt x="2323941" y="1021973"/>
                  <a:pt x="2323941" y="1101061"/>
                </a:cubicBezTo>
                <a:cubicBezTo>
                  <a:pt x="2323941" y="1180149"/>
                  <a:pt x="2388055" y="1244263"/>
                  <a:pt x="2467143" y="1244263"/>
                </a:cubicBezTo>
                <a:cubicBezTo>
                  <a:pt x="2546231" y="1244263"/>
                  <a:pt x="2610345" y="1180149"/>
                  <a:pt x="2610345" y="1101061"/>
                </a:cubicBezTo>
                <a:cubicBezTo>
                  <a:pt x="2610345" y="1021973"/>
                  <a:pt x="2546231" y="957859"/>
                  <a:pt x="2467143" y="957859"/>
                </a:cubicBezTo>
                <a:close/>
                <a:moveTo>
                  <a:pt x="2019696" y="635775"/>
                </a:moveTo>
                <a:lnTo>
                  <a:pt x="2019696" y="922180"/>
                </a:lnTo>
                <a:lnTo>
                  <a:pt x="2914589" y="922180"/>
                </a:lnTo>
                <a:lnTo>
                  <a:pt x="2914589" y="635775"/>
                </a:lnTo>
                <a:close/>
                <a:moveTo>
                  <a:pt x="652639" y="331531"/>
                </a:moveTo>
                <a:lnTo>
                  <a:pt x="652639" y="635775"/>
                </a:lnTo>
                <a:lnTo>
                  <a:pt x="348395" y="635775"/>
                </a:lnTo>
                <a:lnTo>
                  <a:pt x="348395" y="922180"/>
                </a:lnTo>
                <a:lnTo>
                  <a:pt x="652639" y="922180"/>
                </a:lnTo>
                <a:lnTo>
                  <a:pt x="652639" y="1226424"/>
                </a:lnTo>
                <a:lnTo>
                  <a:pt x="939044" y="1226424"/>
                </a:lnTo>
                <a:lnTo>
                  <a:pt x="939044" y="922180"/>
                </a:lnTo>
                <a:lnTo>
                  <a:pt x="1243288" y="922180"/>
                </a:lnTo>
                <a:lnTo>
                  <a:pt x="1243288" y="635775"/>
                </a:lnTo>
                <a:lnTo>
                  <a:pt x="939044" y="635775"/>
                </a:lnTo>
                <a:lnTo>
                  <a:pt x="939044" y="331531"/>
                </a:lnTo>
                <a:close/>
                <a:moveTo>
                  <a:pt x="2467143" y="313692"/>
                </a:moveTo>
                <a:cubicBezTo>
                  <a:pt x="2388055" y="313692"/>
                  <a:pt x="2323941" y="377806"/>
                  <a:pt x="2323941" y="456894"/>
                </a:cubicBezTo>
                <a:cubicBezTo>
                  <a:pt x="2323941" y="535982"/>
                  <a:pt x="2388055" y="600096"/>
                  <a:pt x="2467143" y="600096"/>
                </a:cubicBezTo>
                <a:cubicBezTo>
                  <a:pt x="2546231" y="600096"/>
                  <a:pt x="2610345" y="535982"/>
                  <a:pt x="2610345" y="456894"/>
                </a:cubicBezTo>
                <a:cubicBezTo>
                  <a:pt x="2610345" y="377806"/>
                  <a:pt x="2546231" y="313692"/>
                  <a:pt x="2467143" y="313692"/>
                </a:cubicBezTo>
                <a:close/>
                <a:moveTo>
                  <a:pt x="540011" y="0"/>
                </a:moveTo>
                <a:lnTo>
                  <a:pt x="2699989" y="0"/>
                </a:lnTo>
                <a:cubicBezTo>
                  <a:pt x="2998229" y="0"/>
                  <a:pt x="3240000" y="241771"/>
                  <a:pt x="3240000" y="540011"/>
                </a:cubicBezTo>
                <a:lnTo>
                  <a:pt x="3240000" y="1584001"/>
                </a:lnTo>
                <a:lnTo>
                  <a:pt x="1656000" y="1584001"/>
                </a:lnTo>
                <a:lnTo>
                  <a:pt x="1656000" y="1"/>
                </a:lnTo>
                <a:lnTo>
                  <a:pt x="1584000" y="1"/>
                </a:lnTo>
                <a:lnTo>
                  <a:pt x="1584000" y="1584001"/>
                </a:lnTo>
                <a:lnTo>
                  <a:pt x="0" y="1584001"/>
                </a:lnTo>
                <a:lnTo>
                  <a:pt x="0" y="540011"/>
                </a:lnTo>
                <a:cubicBezTo>
                  <a:pt x="0" y="241771"/>
                  <a:pt x="241771" y="0"/>
                  <a:pt x="5400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27" name="Rectangle 9">
            <a:extLst>
              <a:ext uri="{FF2B5EF4-FFF2-40B4-BE49-F238E27FC236}">
                <a16:creationId xmlns:a16="http://schemas.microsoft.com/office/drawing/2014/main" id="{5517A6E2-2DA2-583B-9F6D-1B2704133DA2}"/>
              </a:ext>
            </a:extLst>
          </p:cNvPr>
          <p:cNvSpPr/>
          <p:nvPr/>
        </p:nvSpPr>
        <p:spPr>
          <a:xfrm>
            <a:off x="1106918" y="5694305"/>
            <a:ext cx="340053" cy="318320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728" name="Round Same Side Corner Rectangle 11">
            <a:extLst>
              <a:ext uri="{FF2B5EF4-FFF2-40B4-BE49-F238E27FC236}">
                <a16:creationId xmlns:a16="http://schemas.microsoft.com/office/drawing/2014/main" id="{843C49A9-6996-87E2-26FD-53BB37E7878E}"/>
              </a:ext>
            </a:extLst>
          </p:cNvPr>
          <p:cNvSpPr>
            <a:spLocks noChangeAspect="1"/>
          </p:cNvSpPr>
          <p:nvPr/>
        </p:nvSpPr>
        <p:spPr>
          <a:xfrm rot="9900000">
            <a:off x="7731820" y="5709536"/>
            <a:ext cx="356223" cy="302546"/>
          </a:xfrm>
          <a:custGeom>
            <a:avLst/>
            <a:gdLst/>
            <a:ahLst/>
            <a:cxnLst/>
            <a:rect l="l" t="t" r="r" b="b"/>
            <a:pathLst>
              <a:path w="2911009" h="2472345">
                <a:moveTo>
                  <a:pt x="2219598" y="1335309"/>
                </a:moveTo>
                <a:lnTo>
                  <a:pt x="2219598" y="1222573"/>
                </a:lnTo>
                <a:cubicBezTo>
                  <a:pt x="2219598" y="1176944"/>
                  <a:pt x="2241926" y="1136530"/>
                  <a:pt x="2277694" y="1113650"/>
                </a:cubicBezTo>
                <a:lnTo>
                  <a:pt x="2277694" y="137786"/>
                </a:lnTo>
                <a:cubicBezTo>
                  <a:pt x="2277694" y="61689"/>
                  <a:pt x="2339383" y="0"/>
                  <a:pt x="2415480" y="0"/>
                </a:cubicBezTo>
                <a:lnTo>
                  <a:pt x="2545196" y="0"/>
                </a:lnTo>
                <a:cubicBezTo>
                  <a:pt x="2621293" y="0"/>
                  <a:pt x="2682982" y="61689"/>
                  <a:pt x="2682982" y="137786"/>
                </a:cubicBezTo>
                <a:lnTo>
                  <a:pt x="2682982" y="1099067"/>
                </a:lnTo>
                <a:cubicBezTo>
                  <a:pt x="2730197" y="1120049"/>
                  <a:pt x="2762708" y="1167515"/>
                  <a:pt x="2762708" y="1222573"/>
                </a:cubicBezTo>
                <a:lnTo>
                  <a:pt x="2762708" y="1480834"/>
                </a:lnTo>
                <a:close/>
                <a:moveTo>
                  <a:pt x="241900" y="1676361"/>
                </a:moveTo>
                <a:cubicBezTo>
                  <a:pt x="69371" y="1631107"/>
                  <a:pt x="-34146" y="1454930"/>
                  <a:pt x="10296" y="1282189"/>
                </a:cubicBezTo>
                <a:cubicBezTo>
                  <a:pt x="54739" y="1109449"/>
                  <a:pt x="230428" y="1005105"/>
                  <a:pt x="403375" y="1048736"/>
                </a:cubicBezTo>
                <a:cubicBezTo>
                  <a:pt x="349550" y="1257945"/>
                  <a:pt x="295726" y="1467153"/>
                  <a:pt x="241900" y="1676361"/>
                </a:cubicBezTo>
                <a:close/>
                <a:moveTo>
                  <a:pt x="2578947" y="2467929"/>
                </a:moveTo>
                <a:lnTo>
                  <a:pt x="1957545" y="2301425"/>
                </a:lnTo>
                <a:lnTo>
                  <a:pt x="2194209" y="1418183"/>
                </a:lnTo>
                <a:lnTo>
                  <a:pt x="2815611" y="1584687"/>
                </a:lnTo>
                <a:cubicBezTo>
                  <a:pt x="2884250" y="1603079"/>
                  <a:pt x="2924985" y="1673632"/>
                  <a:pt x="2906593" y="1742272"/>
                </a:cubicBezTo>
                <a:lnTo>
                  <a:pt x="2736532" y="2376947"/>
                </a:lnTo>
                <a:cubicBezTo>
                  <a:pt x="2718140" y="2445587"/>
                  <a:pt x="2647586" y="2486321"/>
                  <a:pt x="2578947" y="2467929"/>
                </a:cubicBezTo>
                <a:close/>
                <a:moveTo>
                  <a:pt x="610249" y="2287120"/>
                </a:moveTo>
                <a:lnTo>
                  <a:pt x="1020264" y="756923"/>
                </a:lnTo>
                <a:lnTo>
                  <a:pt x="2107356" y="1398691"/>
                </a:lnTo>
                <a:lnTo>
                  <a:pt x="1872582" y="2274879"/>
                </a:lnTo>
                <a:close/>
                <a:moveTo>
                  <a:pt x="426016" y="2349577"/>
                </a:moveTo>
                <a:lnTo>
                  <a:pt x="243978" y="2300800"/>
                </a:lnTo>
                <a:cubicBezTo>
                  <a:pt x="205115" y="2290387"/>
                  <a:pt x="182051" y="2250439"/>
                  <a:pt x="192464" y="2211576"/>
                </a:cubicBezTo>
                <a:lnTo>
                  <a:pt x="620679" y="613455"/>
                </a:lnTo>
                <a:cubicBezTo>
                  <a:pt x="631093" y="574592"/>
                  <a:pt x="671040" y="551528"/>
                  <a:pt x="709903" y="561941"/>
                </a:cubicBezTo>
                <a:lnTo>
                  <a:pt x="891942" y="610718"/>
                </a:lnTo>
                <a:cubicBezTo>
                  <a:pt x="930805" y="621132"/>
                  <a:pt x="953869" y="661079"/>
                  <a:pt x="943455" y="699942"/>
                </a:cubicBezTo>
                <a:lnTo>
                  <a:pt x="515240" y="2298064"/>
                </a:lnTo>
                <a:cubicBezTo>
                  <a:pt x="504827" y="2336927"/>
                  <a:pt x="464879" y="2359990"/>
                  <a:pt x="426016" y="234957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cxnSp>
        <p:nvCxnSpPr>
          <p:cNvPr id="750" name="직선 화살표 연결선 749">
            <a:extLst>
              <a:ext uri="{FF2B5EF4-FFF2-40B4-BE49-F238E27FC236}">
                <a16:creationId xmlns:a16="http://schemas.microsoft.com/office/drawing/2014/main" id="{640C335D-6A97-088E-7E3C-62F0D4FAB249}"/>
              </a:ext>
            </a:extLst>
          </p:cNvPr>
          <p:cNvCxnSpPr>
            <a:cxnSpLocks/>
          </p:cNvCxnSpPr>
          <p:nvPr/>
        </p:nvCxnSpPr>
        <p:spPr>
          <a:xfrm>
            <a:off x="3514588" y="2288085"/>
            <a:ext cx="0" cy="25728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화살표 연결선 751">
            <a:extLst>
              <a:ext uri="{FF2B5EF4-FFF2-40B4-BE49-F238E27FC236}">
                <a16:creationId xmlns:a16="http://schemas.microsoft.com/office/drawing/2014/main" id="{49FFEE26-86A3-F106-6980-99078C0877D7}"/>
              </a:ext>
            </a:extLst>
          </p:cNvPr>
          <p:cNvCxnSpPr>
            <a:cxnSpLocks/>
          </p:cNvCxnSpPr>
          <p:nvPr/>
        </p:nvCxnSpPr>
        <p:spPr>
          <a:xfrm>
            <a:off x="5712665" y="2288085"/>
            <a:ext cx="0" cy="257288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직선 화살표 연결선 752">
            <a:extLst>
              <a:ext uri="{FF2B5EF4-FFF2-40B4-BE49-F238E27FC236}">
                <a16:creationId xmlns:a16="http://schemas.microsoft.com/office/drawing/2014/main" id="{4D49FC0B-0E1B-4114-263D-2188D170C1D0}"/>
              </a:ext>
            </a:extLst>
          </p:cNvPr>
          <p:cNvCxnSpPr>
            <a:cxnSpLocks/>
          </p:cNvCxnSpPr>
          <p:nvPr/>
        </p:nvCxnSpPr>
        <p:spPr>
          <a:xfrm>
            <a:off x="7928327" y="2288085"/>
            <a:ext cx="0" cy="25728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2C3A2FB4-D7F1-DF0C-8BF2-4C9BCA35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076B17AA-E937-F55C-6C2C-6B65E3D8E10C}"/>
              </a:ext>
            </a:extLst>
          </p:cNvPr>
          <p:cNvSpPr txBox="1"/>
          <p:nvPr/>
        </p:nvSpPr>
        <p:spPr>
          <a:xfrm>
            <a:off x="4655529" y="2300797"/>
            <a:ext cx="4125217" cy="243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배경지식과 용어 지식화를 위한 필수내용 요약 소개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https://github.com/thekimk/Tutorial-Probability-Statistics-Algorithm-DataScience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https://www.youtube.com/playlist?list=PLYP0LH6y1TM4DOvCt0BhJhxXjCniU4-_A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관련 수학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통계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개론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디지털비즈니스애널리틱스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데이터분석에 필요한 지식은 수학과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통계학과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산업공학과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컴퓨터공학과 등 에서 매우 일부분이기 때문에 관련 교과목 미수강시 본 영상으로 필요내용만 빠르게 정리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FE7F8EAC-BD31-A85E-0C71-76CBDEF05DB9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F587D563-F5F6-3D4E-9489-7778FEBCD607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 &gt; Study Diving</a:t>
            </a:r>
          </a:p>
          <a:p>
            <a:pPr algn="ctr"/>
            <a:r>
              <a:rPr lang="en-US" altLang="ko-KR" sz="20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(PREREQUISITES)</a:t>
            </a:r>
            <a:endParaRPr lang="en-US" altLang="ko-KR" b="1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8633FAD7-6280-CA7F-92B9-FC836BAB3F55}"/>
              </a:ext>
            </a:extLst>
          </p:cNvPr>
          <p:cNvSpPr/>
          <p:nvPr/>
        </p:nvSpPr>
        <p:spPr>
          <a:xfrm>
            <a:off x="370981" y="1971883"/>
            <a:ext cx="4117491" cy="4055244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4E98DC28-46C2-7B79-B179-BE21F052791D}"/>
              </a:ext>
            </a:extLst>
          </p:cNvPr>
          <p:cNvSpPr/>
          <p:nvPr/>
        </p:nvSpPr>
        <p:spPr>
          <a:xfrm>
            <a:off x="370981" y="1820232"/>
            <a:ext cx="4117491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Tool | Python Programming Tutorial</a:t>
            </a:r>
            <a:endParaRPr lang="en-US" altLang="ko-KR"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4094AB5F-724C-BB87-1B4A-3FF259D58B15}"/>
              </a:ext>
            </a:extLst>
          </p:cNvPr>
          <p:cNvSpPr/>
          <p:nvPr/>
        </p:nvSpPr>
        <p:spPr>
          <a:xfrm>
            <a:off x="4655530" y="1971886"/>
            <a:ext cx="4125217" cy="405524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D26E273D-7050-5E18-3C83-595A20BF12A3}"/>
              </a:ext>
            </a:extLst>
          </p:cNvPr>
          <p:cNvSpPr/>
          <p:nvPr/>
        </p:nvSpPr>
        <p:spPr>
          <a:xfrm>
            <a:off x="4655530" y="1820232"/>
            <a:ext cx="4125217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Prerequisites | What is Required to Become a Data Scientist</a:t>
            </a:r>
            <a:endParaRPr lang="en-US" altLang="ko-KR" sz="12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19C9E40-0491-DBA1-089A-F6D8D99B4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2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3" name="Google Shape;721;p43">
            <a:extLst>
              <a:ext uri="{FF2B5EF4-FFF2-40B4-BE49-F238E27FC236}">
                <a16:creationId xmlns:a16="http://schemas.microsoft.com/office/drawing/2014/main" id="{EFE624B8-920D-7DF2-74DF-4ABC4CF6737D}"/>
              </a:ext>
            </a:extLst>
          </p:cNvPr>
          <p:cNvSpPr txBox="1"/>
          <p:nvPr/>
        </p:nvSpPr>
        <p:spPr>
          <a:xfrm>
            <a:off x="370982" y="2300797"/>
            <a:ext cx="4117490" cy="2391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도구 파이썬 사용법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https://github.com/thekimk/Tutorial-Python-Programming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요약본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</a:p>
          <a:p>
            <a:pPr lvl="0">
              <a:lnSpc>
                <a:spcPct val="120000"/>
              </a:lnSpc>
              <a:buSzPts val="1400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https://www.youtube.com/playlist?list=PLYP0LH6y1TM4P3HMNM3JQ8MFx8z6nLo9O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</a:p>
          <a:p>
            <a:pPr lvl="0">
              <a:lnSpc>
                <a:spcPct val="120000"/>
              </a:lnSpc>
              <a:buSzPts val="1400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https://www.youtube.com/playlist?list=PLYP0LH6y1TM6H3o82V-vDqQ7DbiRLJf4J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비즈니스데이터사이언스의이해 또는 파이썬 프로그래밍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사용법 잊은 경우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필요한 부분만 선택적 수강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174405D2-28AD-37A2-6CA5-AB88B9C15988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359974" y="608206"/>
            <a:ext cx="281780" cy="2142273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7DB30250-B249-69EB-7590-A0B64C9A769B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504179" y="606272"/>
            <a:ext cx="281780" cy="21461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669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68B5C21B-C041-D4B9-3418-573ABF55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3AA4CD3D-0AF1-A51C-CB30-745F3DE1C9F6}"/>
              </a:ext>
            </a:extLst>
          </p:cNvPr>
          <p:cNvSpPr txBox="1"/>
          <p:nvPr/>
        </p:nvSpPr>
        <p:spPr>
          <a:xfrm>
            <a:off x="4655529" y="2300797"/>
            <a:ext cx="4125217" cy="2095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머신러닝 알고리즘 이해 및 데이터분석 성능 고도화 시작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https://github.com/thekimk/All-About-Machine-Learning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https://www.youtube.com/playlist?list=PLYP0LH6y1TM6Khh6_ydAPoC9Fj4H_Vp-G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디지털비즈니스애널리틱스 또는 머신러닝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프로세스 단계 스스로 완성할 줄 알고나서 수강 추천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강의에 포함되지 않은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알고리즘을 통한 설명력 실습은 강의외 스스로 습득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8C711457-986B-769B-2FD3-51AC01C57BFE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A45D06D7-2FC6-9DA4-5490-F4DA235D35D3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 &gt; Study Diving</a:t>
            </a:r>
          </a:p>
          <a:p>
            <a:pPr algn="ctr"/>
            <a:r>
              <a:rPr lang="en-US" altLang="ko-KR" sz="20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(BASIC)</a:t>
            </a:r>
            <a:endParaRPr lang="en-US" altLang="ko-KR" b="1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71914DEF-E855-1595-B027-C5AB3596A16A}"/>
              </a:ext>
            </a:extLst>
          </p:cNvPr>
          <p:cNvSpPr/>
          <p:nvPr/>
        </p:nvSpPr>
        <p:spPr>
          <a:xfrm>
            <a:off x="370981" y="1971883"/>
            <a:ext cx="4117491" cy="4055244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D9494BB2-79C2-2173-C5A5-F4A4F9E74C22}"/>
              </a:ext>
            </a:extLst>
          </p:cNvPr>
          <p:cNvSpPr/>
          <p:nvPr/>
        </p:nvSpPr>
        <p:spPr>
          <a:xfrm>
            <a:off x="370981" y="1820232"/>
            <a:ext cx="4117491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Process | Why You Should Ask The Real Business Question?</a:t>
            </a:r>
            <a:endParaRPr lang="en-US" altLang="ko-KR" sz="2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6E411A05-34B6-79CE-1FA3-AA26DC53B11D}"/>
              </a:ext>
            </a:extLst>
          </p:cNvPr>
          <p:cNvSpPr/>
          <p:nvPr/>
        </p:nvSpPr>
        <p:spPr>
          <a:xfrm>
            <a:off x="4655530" y="1971886"/>
            <a:ext cx="4125217" cy="405524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728BEA6F-526C-0C05-BB08-7CD2715C8658}"/>
              </a:ext>
            </a:extLst>
          </p:cNvPr>
          <p:cNvSpPr/>
          <p:nvPr/>
        </p:nvSpPr>
        <p:spPr>
          <a:xfrm>
            <a:off x="4655530" y="1820232"/>
            <a:ext cx="4125217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Algorithms | What are Machine Learning Algorithms for AI Engines?</a:t>
            </a:r>
            <a:endParaRPr lang="en-US" altLang="ko-KR" sz="12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C21D66-8432-0CEE-FB96-3CE1D1B8E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3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3" name="Google Shape;721;p43">
            <a:extLst>
              <a:ext uri="{FF2B5EF4-FFF2-40B4-BE49-F238E27FC236}">
                <a16:creationId xmlns:a16="http://schemas.microsoft.com/office/drawing/2014/main" id="{69543C70-2567-FA81-4203-F6FC7E9E5626}"/>
              </a:ext>
            </a:extLst>
          </p:cNvPr>
          <p:cNvSpPr txBox="1"/>
          <p:nvPr/>
        </p:nvSpPr>
        <p:spPr>
          <a:xfrm>
            <a:off x="370982" y="2300797"/>
            <a:ext cx="4117490" cy="2243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데이터분석 프로세스 단계 완성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https://github.com/thekimk/All-About-Machine-Learning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https://www.youtube.com/playlist?list=PLYP0LH6y1TM50-9XqZfI2bbIOXCxYLauH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디지털비즈니스애널리틱스 또는 기초데이터분석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알고리즘보다 전체적인 데이터분석 프로세스를 완성하는 것이 목표이므로 끝까지 달려 완성하는 실습이 매우 중요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!!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프로세스 완성도 스스로 하지 못하면서 알고리즘 아무리 배워도 써먹지 못함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52765C78-0726-73B6-EAC2-3E30C96C91F1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359974" y="608206"/>
            <a:ext cx="281780" cy="2142273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AF29324-B00B-F3ED-8411-CADA487EC836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504179" y="606272"/>
            <a:ext cx="281780" cy="21461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FFE3BCA-23F5-9392-B79A-A6C5C68921D4}"/>
              </a:ext>
            </a:extLst>
          </p:cNvPr>
          <p:cNvSpPr/>
          <p:nvPr/>
        </p:nvSpPr>
        <p:spPr>
          <a:xfrm>
            <a:off x="370981" y="1529492"/>
            <a:ext cx="1361807" cy="32121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25</a:t>
            </a:r>
            <a:r>
              <a:rPr lang="ko-KR" altLang="en-US" sz="1200" b="1"/>
              <a:t>년 </a:t>
            </a:r>
            <a:r>
              <a:rPr lang="en-US" altLang="ko-KR" sz="1200" b="1"/>
              <a:t>3</a:t>
            </a:r>
            <a:r>
              <a:rPr lang="ko-KR" altLang="en-US" sz="1200" b="1"/>
              <a:t>분기 목표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B921964-1A95-F318-48E0-7A096BF61BAF}"/>
              </a:ext>
            </a:extLst>
          </p:cNvPr>
          <p:cNvSpPr/>
          <p:nvPr/>
        </p:nvSpPr>
        <p:spPr>
          <a:xfrm>
            <a:off x="7418939" y="1529492"/>
            <a:ext cx="1361807" cy="32121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25</a:t>
            </a:r>
            <a:r>
              <a:rPr lang="ko-KR" altLang="en-US" sz="1200" b="1"/>
              <a:t>년 </a:t>
            </a:r>
            <a:r>
              <a:rPr lang="en-US" altLang="ko-KR" sz="1200" b="1"/>
              <a:t>3</a:t>
            </a:r>
            <a:r>
              <a:rPr lang="ko-KR" altLang="en-US" sz="1200" b="1"/>
              <a:t>분기 목표</a:t>
            </a:r>
          </a:p>
        </p:txBody>
      </p:sp>
    </p:spTree>
    <p:extLst>
      <p:ext uri="{BB962C8B-B14F-4D97-AF65-F5344CB8AC3E}">
        <p14:creationId xmlns:p14="http://schemas.microsoft.com/office/powerpoint/2010/main" val="2988390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7E4102F5-2496-0D19-D0B9-126D8590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A1A07AB1-C7A7-EA49-2872-B419C5CEFF2A}"/>
              </a:ext>
            </a:extLst>
          </p:cNvPr>
          <p:cNvSpPr txBox="1"/>
          <p:nvPr/>
        </p:nvSpPr>
        <p:spPr>
          <a:xfrm>
            <a:off x="4655529" y="2300797"/>
            <a:ext cx="4125217" cy="2539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딥러닝 알고리즘 이해 및 데이터분석 성능 고도화</a:t>
            </a:r>
            <a:endParaRPr lang="en-US" altLang="ko-K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https://github.com/thekimk/All-About-Deep-Learning</a:t>
            </a: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https://youtube.com/playlist?list=PLYP0LH6y1TM6s-bdE1Og3U6_SnV6CsqwJ&amp;si=o1BDtamwTK9are_e</a:t>
            </a: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인공지능기반의사결정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또는 딥러닝 등 </a:t>
            </a:r>
            <a:r>
              <a:rPr lang="ko-KR" alt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수강시</a:t>
            </a:r>
            <a:r>
              <a:rPr lang="ko-KR" alt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미필요</a:t>
            </a:r>
            <a:endParaRPr lang="en-US" altLang="ko-KR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최소 </a:t>
            </a:r>
            <a: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altLang="ko-KR" sz="800" b="1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Data Science Algorithms | What are Machine Learning Algorithms for AI Engines?”</a:t>
            </a: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스스로 완성 및 충분히 익숙해진 후 수강 추천</a:t>
            </a:r>
            <a: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시간데이터 처리가 포함되므로 </a:t>
            </a:r>
            <a: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altLang="ko-KR" sz="800" b="1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Data Science Process + Algorithms | How Do We Solve the Time Dependency Problem?</a:t>
            </a:r>
            <a:r>
              <a:rPr lang="en-US" altLang="ko-KR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ko-KR" altLang="en-US" sz="800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수강 후 학습해야 끝까지 달리기 용이함</a:t>
            </a:r>
            <a:endParaRPr lang="en-US" altLang="ko-KR" sz="500" dirty="0">
              <a:solidFill>
                <a:schemeClr val="tx2">
                  <a:lumMod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6CD80869-4EB3-CBB6-CE4A-1872A3DA1027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01321049-A43E-D94D-0075-20EFCB5C896D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 &gt; Study Diving</a:t>
            </a:r>
          </a:p>
          <a:p>
            <a:pPr algn="ctr"/>
            <a:r>
              <a:rPr lang="en-US" altLang="ko-KR" sz="2000" b="1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(ADVANCED)</a:t>
            </a:r>
            <a:endParaRPr lang="en-US" altLang="ko-KR" b="1" u="sng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B45AC09A-47DF-ABF1-B692-57A3C81248EE}"/>
              </a:ext>
            </a:extLst>
          </p:cNvPr>
          <p:cNvSpPr/>
          <p:nvPr/>
        </p:nvSpPr>
        <p:spPr>
          <a:xfrm>
            <a:off x="370981" y="1971883"/>
            <a:ext cx="4117491" cy="4055244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2ABE44CB-7466-4322-ED02-C13E281BEFDA}"/>
              </a:ext>
            </a:extLst>
          </p:cNvPr>
          <p:cNvSpPr/>
          <p:nvPr/>
        </p:nvSpPr>
        <p:spPr>
          <a:xfrm>
            <a:off x="370981" y="1820232"/>
            <a:ext cx="4117491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| How Do We Solve the Time Dependency Problem?</a:t>
            </a:r>
            <a:endParaRPr lang="en-US" altLang="ko-KR" sz="1200"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6567846B-EE6A-266C-C06E-60901E18F28E}"/>
              </a:ext>
            </a:extLst>
          </p:cNvPr>
          <p:cNvSpPr/>
          <p:nvPr/>
        </p:nvSpPr>
        <p:spPr>
          <a:xfrm>
            <a:off x="4655530" y="1971886"/>
            <a:ext cx="4125217" cy="405524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C80324B1-0C31-2F23-02C5-3C477093C7B5}"/>
              </a:ext>
            </a:extLst>
          </p:cNvPr>
          <p:cNvSpPr/>
          <p:nvPr/>
        </p:nvSpPr>
        <p:spPr>
          <a:xfrm>
            <a:off x="4655530" y="1820232"/>
            <a:ext cx="4125217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| What are Deep Learning Algorithms for AI Engines?</a:t>
            </a:r>
            <a:endParaRPr lang="en-US" altLang="ko-KR" sz="12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E36C33B-3D13-9517-6345-233CC2B24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4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3" name="Google Shape;721;p43">
            <a:extLst>
              <a:ext uri="{FF2B5EF4-FFF2-40B4-BE49-F238E27FC236}">
                <a16:creationId xmlns:a16="http://schemas.microsoft.com/office/drawing/2014/main" id="{651C8841-E303-7C44-038F-92F15589885C}"/>
              </a:ext>
            </a:extLst>
          </p:cNvPr>
          <p:cNvSpPr txBox="1"/>
          <p:nvPr/>
        </p:nvSpPr>
        <p:spPr>
          <a:xfrm>
            <a:off x="370982" y="2300797"/>
            <a:ext cx="4117490" cy="2243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시간의존 문제 해결을 위한 데이터분석 프로세스 단계 완성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강의자료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https://github.com/thekimk/All-About-Time-Series-Analysis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영상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https://www.youtube.com/playlist?list=PLYP0LH6y1TM77hdoLW5W5IdvQpk20UK5W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학습방향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비즈니스수요예측 또는 시계열분석 등 수강시 미필요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시간의존 데이터처리를 위한 데이터분석 프로세스를 완성과 관련 알고리즘을 동시에 다루기 때문에 끝까지 달려 실습을 완성하지 못하면 시간데이터 다루지 못함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매년 진행되는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유통데이터 활용 경진대회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미리 준비 후 수상시 전문가 증빙 추천</a:t>
            </a:r>
            <a:endParaRPr lang="en-US" altLang="ko-KR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BF16AF9E-B382-610C-40D2-F590972DD453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359974" y="608206"/>
            <a:ext cx="281780" cy="2142273"/>
          </a:xfrm>
          <a:prstGeom prst="bentConnector3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5D21C9B4-B3C0-9B59-CD98-DAE111E774E5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504179" y="606272"/>
            <a:ext cx="281780" cy="21461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17F0EAB-2C14-9BC0-6AA1-BA6DF06E07A9}"/>
              </a:ext>
            </a:extLst>
          </p:cNvPr>
          <p:cNvSpPr/>
          <p:nvPr/>
        </p:nvSpPr>
        <p:spPr>
          <a:xfrm>
            <a:off x="7418939" y="1529492"/>
            <a:ext cx="1361807" cy="32121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/>
              <a:t>25</a:t>
            </a:r>
            <a:r>
              <a:rPr lang="ko-KR" altLang="en-US" sz="1200" b="1"/>
              <a:t>년 </a:t>
            </a:r>
            <a:r>
              <a:rPr lang="en-US" altLang="ko-KR" sz="1200" b="1"/>
              <a:t>3</a:t>
            </a:r>
            <a:r>
              <a:rPr lang="ko-KR" altLang="en-US" sz="1200" b="1"/>
              <a:t>분기 목표</a:t>
            </a:r>
          </a:p>
        </p:txBody>
      </p:sp>
    </p:spTree>
    <p:extLst>
      <p:ext uri="{BB962C8B-B14F-4D97-AF65-F5344CB8AC3E}">
        <p14:creationId xmlns:p14="http://schemas.microsoft.com/office/powerpoint/2010/main" val="1723852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>
          <a:extLst>
            <a:ext uri="{FF2B5EF4-FFF2-40B4-BE49-F238E27FC236}">
              <a16:creationId xmlns:a16="http://schemas.microsoft.com/office/drawing/2014/main" id="{4B86F084-A60B-D00A-83D3-13FF31059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21;p43">
            <a:extLst>
              <a:ext uri="{FF2B5EF4-FFF2-40B4-BE49-F238E27FC236}">
                <a16:creationId xmlns:a16="http://schemas.microsoft.com/office/drawing/2014/main" id="{3324F300-B896-0689-4ED6-4CFC9A626B5F}"/>
              </a:ext>
            </a:extLst>
          </p:cNvPr>
          <p:cNvSpPr txBox="1"/>
          <p:nvPr/>
        </p:nvSpPr>
        <p:spPr>
          <a:xfrm>
            <a:off x="4655529" y="2300797"/>
            <a:ext cx="4125217" cy="248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애널리틱스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수요를 정확하게 예측해볼까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시계열 및 텍스트 형태로 구성된 경제지표와 뉴스데이터 융합을 통한 미래예측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데이터결합 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시계열정보추출 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텍스트정보추출</a:t>
            </a:r>
            <a:endParaRPr lang="en-US" altLang="ko-KR" sz="105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https://github.com/thekimk/Lecture-NIA/tree/main/Data</a:t>
            </a:r>
            <a:endParaRPr lang="en-US" altLang="ko-KR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데이터결합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수요데이터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(df_KTX_monthsum_example_KK)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경제지표 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(ECON &amp; KOSIS)</a:t>
            </a:r>
          </a:p>
          <a:p>
            <a:pPr marL="171450" marR="0" lvl="0" indent="-171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시계열정보추출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시간 정보에서 추출할 수 있는 주말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주중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공휴일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대체공휴일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명절 등 추출</a:t>
            </a:r>
            <a:endParaRPr lang="en-US" altLang="ko-KR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뉴스데이터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크롤링 또는 빅카인즈에서 뉴스데이터 추출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(NewsResult_20150101-20250331_KTX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코레일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.xlsx) </a:t>
            </a:r>
          </a:p>
          <a:p>
            <a:pPr lvl="0">
              <a:lnSpc>
                <a:spcPct val="120000"/>
              </a:lnSpc>
              <a:buSzPts val="1400"/>
            </a:pP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(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검색어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KTX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코레일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기간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15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년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월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일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~25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년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월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일 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언론사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전국일간지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경제일간지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방송사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전문지 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통합분류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경제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사회</a:t>
            </a:r>
            <a:r>
              <a:rPr lang="en-US" altLang="ko-KR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텍스트정보추출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시간 빈도별 뉴스 트래픽 및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Transformer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기반 감성분석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</a:t>
            </a:r>
            <a:r>
              <a:rPr lang="en-US" altLang="ko-KR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필요시</a:t>
            </a:r>
            <a:r>
              <a:rPr lang="en-US" altLang="ko-KR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ko-KR" altLang="en-US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신규</a:t>
            </a:r>
            <a:r>
              <a:rPr lang="en-US" altLang="ko-KR" sz="105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DB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독립변수 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가 없는 미래 기간의 수요 예측</a:t>
            </a:r>
            <a:endParaRPr lang="en-US" altLang="ko-KR" sz="10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1">
            <a:extLst>
              <a:ext uri="{FF2B5EF4-FFF2-40B4-BE49-F238E27FC236}">
                <a16:creationId xmlns:a16="http://schemas.microsoft.com/office/drawing/2014/main" id="{30C7D7A2-A15F-EA79-05C8-688F62D604E1}"/>
              </a:ext>
            </a:extLst>
          </p:cNvPr>
          <p:cNvSpPr txBox="1"/>
          <p:nvPr/>
        </p:nvSpPr>
        <p:spPr>
          <a:xfrm>
            <a:off x="112295" y="101025"/>
            <a:ext cx="891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of DIVE Research Group</a:t>
            </a:r>
            <a:endParaRPr/>
          </a:p>
        </p:txBody>
      </p:sp>
      <p:sp>
        <p:nvSpPr>
          <p:cNvPr id="579" name="Google Shape;579;p41">
            <a:extLst>
              <a:ext uri="{FF2B5EF4-FFF2-40B4-BE49-F238E27FC236}">
                <a16:creationId xmlns:a16="http://schemas.microsoft.com/office/drawing/2014/main" id="{EAF01631-C050-3EC7-C11E-17E04E39A120}"/>
              </a:ext>
            </a:extLst>
          </p:cNvPr>
          <p:cNvSpPr txBox="1"/>
          <p:nvPr/>
        </p:nvSpPr>
        <p:spPr>
          <a:xfrm>
            <a:off x="1507587" y="645940"/>
            <a:ext cx="6128825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altLang="ko-KR" sz="32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DIVE</a:t>
            </a:r>
            <a:r>
              <a:rPr lang="en-US" altLang="ko-KR" sz="32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Group &gt; Project Diving</a:t>
            </a:r>
          </a:p>
          <a:p>
            <a:pPr algn="ctr"/>
            <a:r>
              <a:rPr lang="en-US" altLang="ko-KR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altLang="ko-KR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https://github.com/thekimk/Lecture-NIA</a:t>
            </a:r>
            <a:r>
              <a:rPr lang="en-US" altLang="ko-KR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-KR" altLang="en-US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참고</a:t>
            </a:r>
            <a:r>
              <a:rPr lang="en-US" altLang="ko-KR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lang="en-US" altLang="ko-KR" sz="12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1">
            <a:extLst>
              <a:ext uri="{FF2B5EF4-FFF2-40B4-BE49-F238E27FC236}">
                <a16:creationId xmlns:a16="http://schemas.microsoft.com/office/drawing/2014/main" id="{073D5AA6-4886-CC39-97D8-2818FF66C61C}"/>
              </a:ext>
            </a:extLst>
          </p:cNvPr>
          <p:cNvSpPr/>
          <p:nvPr/>
        </p:nvSpPr>
        <p:spPr>
          <a:xfrm>
            <a:off x="370981" y="1971883"/>
            <a:ext cx="4117491" cy="4055244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1">
            <a:extLst>
              <a:ext uri="{FF2B5EF4-FFF2-40B4-BE49-F238E27FC236}">
                <a16:creationId xmlns:a16="http://schemas.microsoft.com/office/drawing/2014/main" id="{5FA56E53-AA9A-1248-BE2B-C9868AACA5E5}"/>
              </a:ext>
            </a:extLst>
          </p:cNvPr>
          <p:cNvSpPr/>
          <p:nvPr/>
        </p:nvSpPr>
        <p:spPr>
          <a:xfrm>
            <a:off x="370981" y="1820232"/>
            <a:ext cx="4117491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altLang="ko-KR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Classification</a:t>
            </a:r>
            <a:endParaRPr lang="en-US" altLang="ko-KR" sz="1800"/>
          </a:p>
        </p:txBody>
      </p:sp>
      <p:sp>
        <p:nvSpPr>
          <p:cNvPr id="599" name="Google Shape;599;p41">
            <a:extLst>
              <a:ext uri="{FF2B5EF4-FFF2-40B4-BE49-F238E27FC236}">
                <a16:creationId xmlns:a16="http://schemas.microsoft.com/office/drawing/2014/main" id="{9363C759-ECE5-BF81-2107-57D18D854147}"/>
              </a:ext>
            </a:extLst>
          </p:cNvPr>
          <p:cNvSpPr/>
          <p:nvPr/>
        </p:nvSpPr>
        <p:spPr>
          <a:xfrm>
            <a:off x="4655530" y="1971886"/>
            <a:ext cx="4125217" cy="4055241"/>
          </a:xfrm>
          <a:prstGeom prst="rect">
            <a:avLst/>
          </a:prstGeom>
          <a:noFill/>
          <a:ln w="9525" cap="flat" cmpd="sng">
            <a:solidFill>
              <a:srgbClr val="023A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>
            <a:extLst>
              <a:ext uri="{FF2B5EF4-FFF2-40B4-BE49-F238E27FC236}">
                <a16:creationId xmlns:a16="http://schemas.microsoft.com/office/drawing/2014/main" id="{56F73D3C-E1A4-5566-9A6B-A38588302CAB}"/>
              </a:ext>
            </a:extLst>
          </p:cNvPr>
          <p:cNvSpPr/>
          <p:nvPr/>
        </p:nvSpPr>
        <p:spPr>
          <a:xfrm>
            <a:off x="4655530" y="1820232"/>
            <a:ext cx="4125217" cy="461701"/>
          </a:xfrm>
          <a:prstGeom prst="roundRect">
            <a:avLst>
              <a:gd name="adj" fmla="val 0"/>
            </a:avLst>
          </a:prstGeom>
          <a:solidFill>
            <a:srgbClr val="002060"/>
          </a:solidFill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Supervised Regression</a:t>
            </a:r>
            <a:endParaRPr sz="180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71ACDD-9352-ECA5-7E26-4F0CBD3B2F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DF9F5A3-DAD3-49E7-B926-6F61E4EB127E}" type="slidenum">
              <a:rPr lang="ko-KR" altLang="en-US" smtClean="0"/>
              <a:pPr/>
              <a:t>5</a:t>
            </a:fld>
            <a:r>
              <a:rPr lang="ko-KR" altLang="en-US"/>
              <a:t> </a:t>
            </a:r>
            <a:r>
              <a:rPr lang="en-US" altLang="ko-KR"/>
              <a:t>/ 37</a:t>
            </a:r>
            <a:endParaRPr lang="ko-KR" altLang="en-US" dirty="0"/>
          </a:p>
        </p:txBody>
      </p:sp>
      <p:sp>
        <p:nvSpPr>
          <p:cNvPr id="3" name="Google Shape;721;p43">
            <a:extLst>
              <a:ext uri="{FF2B5EF4-FFF2-40B4-BE49-F238E27FC236}">
                <a16:creationId xmlns:a16="http://schemas.microsoft.com/office/drawing/2014/main" id="{4494053A-85F6-EEB5-8C3F-D1CF6C70B62D}"/>
              </a:ext>
            </a:extLst>
          </p:cNvPr>
          <p:cNvSpPr txBox="1"/>
          <p:nvPr/>
        </p:nvSpPr>
        <p:spPr>
          <a:xfrm>
            <a:off x="370982" y="2300797"/>
            <a:ext cx="4117490" cy="3028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2075" marR="0" lvl="0" indent="-92075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비즈니스 애널리틱스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누구에게 마케팅을 해야할 것인가</a:t>
            </a:r>
            <a:r>
              <a:rPr lang="en-US" altLang="ko-K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r>
              <a:rPr lang="ko-KR" alt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설명가능한 인공지능을 활용한 추천과 근거</a:t>
            </a:r>
            <a:endParaRPr lang="en-US" altLang="ko-KR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1: </a:t>
            </a:r>
            <a:r>
              <a:rPr lang="ko-KR" altLang="en-US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샘플 데이터로 분석프로세스 완성</a:t>
            </a:r>
            <a:endParaRPr lang="en-US" altLang="ko-KR" sz="105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샘플 데이터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숫자 설문조사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):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https://github.com/thekimk/Lecture-NIA/blob/main/Data/df_concat_BA1.csv</a:t>
            </a:r>
            <a:endParaRPr lang="en-US" altLang="ko-KR"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종속변수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기부여부</a:t>
            </a:r>
            <a:endParaRPr lang="en-US" altLang="ko-KR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모델링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Logistic Regression, Random Forest, XGBoost, LightGBM, CatBoost, MLP, CNN 7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종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SHAP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기반 개인설명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전체설명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의존성</a:t>
            </a:r>
            <a:endParaRPr lang="en-US" altLang="ko-KR"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2: </a:t>
            </a:r>
            <a:r>
              <a:rPr lang="ko-KR" altLang="en-US" sz="10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실제 데이터로 분석 프로세스 완성</a:t>
            </a:r>
            <a:endParaRPr lang="en-US" altLang="ko-KR" sz="105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 데이터 논리적 결합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https://mdis.kostat.go.kr/dwnlSvc/ofrSurvSearch.do?curMenuNo=UI_POR_P9240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사회일반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사회조사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복지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사회참여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문화와여가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소득과소비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노동 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2021~2023</a:t>
            </a:r>
            <a:r>
              <a:rPr lang="ko-KR" alt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년</a:t>
            </a:r>
            <a:r>
              <a:rPr lang="en-US" altLang="ko-K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171450" indent="-171450">
              <a:lnSpc>
                <a:spcPct val="120000"/>
              </a:lnSpc>
              <a:buSzPts val="1400"/>
              <a:buFontTx/>
              <a:buChar char="-"/>
            </a:pP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모델링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Logistic Regression, Random Forest, XGBoost, LightGBM, CatBoost, MLP, CNN 7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종 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SHAP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기반 개인설명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전체설명</a:t>
            </a: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의존성</a:t>
            </a:r>
            <a:endParaRPr lang="en-US" altLang="ko-KR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2075" lvl="0" indent="-92075">
              <a:lnSpc>
                <a:spcPct val="120000"/>
              </a:lnSpc>
              <a:buSzPts val="1400"/>
              <a:buFont typeface="Noto Sans Symbols"/>
              <a:buChar char="▪"/>
            </a:pP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r>
              <a:rPr lang="en-US" altLang="ko-KR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3: </a:t>
            </a:r>
            <a:r>
              <a:rPr lang="ko-KR" altLang="en-US" sz="1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성능 업데이트</a:t>
            </a:r>
            <a:endParaRPr lang="en-US" altLang="ko-KR" sz="10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lvl="0" indent="-171450">
              <a:lnSpc>
                <a:spcPct val="120000"/>
              </a:lnSpc>
              <a:buSzPts val="1400"/>
              <a:buFontTx/>
              <a:buChar char="-"/>
            </a:pPr>
            <a:r>
              <a:rPr lang="en-US" altLang="ko-KR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Baseline </a:t>
            </a:r>
            <a:r>
              <a:rPr lang="ko-KR" alt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성능 넘어서기</a:t>
            </a:r>
            <a:endParaRPr lang="en-US" altLang="ko-KR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1400"/>
            </a:pPr>
            <a:endParaRPr lang="en-US" altLang="ko-KR" sz="10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50FC8D22-DA8C-6ACA-09B5-FD62BAB22402}"/>
              </a:ext>
            </a:extLst>
          </p:cNvPr>
          <p:cNvCxnSpPr>
            <a:cxnSpLocks/>
            <a:stCxn id="579" idx="2"/>
            <a:endCxn id="581" idx="0"/>
          </p:cNvCxnSpPr>
          <p:nvPr/>
        </p:nvCxnSpPr>
        <p:spPr>
          <a:xfrm rot="5400000">
            <a:off x="3359974" y="608206"/>
            <a:ext cx="281780" cy="2142273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02D6D092-985B-606C-44C8-1F0125387B0A}"/>
              </a:ext>
            </a:extLst>
          </p:cNvPr>
          <p:cNvCxnSpPr>
            <a:cxnSpLocks/>
            <a:stCxn id="579" idx="2"/>
            <a:endCxn id="601" idx="0"/>
          </p:cNvCxnSpPr>
          <p:nvPr/>
        </p:nvCxnSpPr>
        <p:spPr>
          <a:xfrm rot="16200000" flipH="1">
            <a:off x="5504179" y="606272"/>
            <a:ext cx="281780" cy="2146139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BC64A8-69E2-43C4-9936-09AEAF872D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547"/>
          <a:stretch>
            <a:fillRect/>
          </a:stretch>
        </p:blipFill>
        <p:spPr bwMode="auto">
          <a:xfrm>
            <a:off x="525036" y="4884519"/>
            <a:ext cx="3809381" cy="1133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33F3FAE-FC26-6BA1-207D-540B643907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898"/>
          <a:stretch>
            <a:fillRect/>
          </a:stretch>
        </p:blipFill>
        <p:spPr bwMode="auto">
          <a:xfrm>
            <a:off x="5675734" y="4708280"/>
            <a:ext cx="2084809" cy="131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54046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사용자 지정 11">
      <a:dk1>
        <a:srgbClr val="2C2D2F"/>
      </a:dk1>
      <a:lt1>
        <a:srgbClr val="FFFFFF"/>
      </a:lt1>
      <a:dk2>
        <a:srgbClr val="61626A"/>
      </a:dk2>
      <a:lt2>
        <a:srgbClr val="DEDEDE"/>
      </a:lt2>
      <a:accent1>
        <a:srgbClr val="044EA2"/>
      </a:accent1>
      <a:accent2>
        <a:srgbClr val="95BFED"/>
      </a:accent2>
      <a:accent3>
        <a:srgbClr val="424243"/>
      </a:accent3>
      <a:accent4>
        <a:srgbClr val="E1EDEE"/>
      </a:accent4>
      <a:accent5>
        <a:srgbClr val="044EA2"/>
      </a:accent5>
      <a:accent6>
        <a:srgbClr val="B3CEDD"/>
      </a:accent6>
      <a:hlink>
        <a:srgbClr val="044EA2"/>
      </a:hlink>
      <a:folHlink>
        <a:srgbClr val="0D2ECA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9560</TotalTime>
  <Words>1610</Words>
  <Application>Microsoft Office PowerPoint</Application>
  <PresentationFormat>화면 슬라이드 쇼(4:3)</PresentationFormat>
  <Paragraphs>232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Noto Sans Symbols</vt:lpstr>
      <vt:lpstr>Malgun Gothic</vt:lpstr>
      <vt:lpstr>Arial</vt:lpstr>
      <vt:lpstr>Calibri</vt:lpstr>
      <vt:lpstr>Cambria Math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Office 사용자</dc:creator>
  <cp:lastModifiedBy>Kyungwon Kim</cp:lastModifiedBy>
  <cp:revision>1460</cp:revision>
  <dcterms:created xsi:type="dcterms:W3CDTF">2017-08-28T02:36:56Z</dcterms:created>
  <dcterms:modified xsi:type="dcterms:W3CDTF">2026-03-03T13:34:02Z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lpwstr>88E2CA7DA740E51D625C323DD66B4F4206A6C78A74461D15BF48BA2B48BF78F3</vt:lpwstr>
  </property>
  <property fmtid="{D5CDD505-2E9C-101B-9397-08002B2CF9AE}" pid="2" name="NSCPROP">
    <vt:lpwstr>NSCCustomProperty</vt:lpwstr>
  </property>
  <property fmtid="{D5CDD505-2E9C-101B-9397-08002B2CF9AE}" pid="3" name="ContentTypeId">
    <vt:lpwstr>0x010100EE7FC1D07832764183E230CF748316B6</vt:lpwstr>
  </property>
  <property fmtid="{D5CDD505-2E9C-101B-9397-08002B2CF9AE}" pid="4" name="NSCPROP_SA">
    <vt:lpwstr>http://teamdocs.mosaic.sec.samsung.net/sites/COMTY_4026902/MENU_4026902_4026907/Shared%20Documents/팀관리/180411%20팀%20간담회/DI팀_간담회_180409v01.pptx</vt:lpwstr>
  </property>
</Properties>
</file>